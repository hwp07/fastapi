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Consolas" panose="020B0609020204030204" pitchFamily="49" charset="0"/>
      <p:regular r:id="rId13"/>
      <p:bold r:id="rId14"/>
      <p:italic r:id="rId15"/>
      <p:boldItalic r:id="rId16"/>
    </p:embeddedFont>
    <p:embeddedFont>
      <p:font typeface="Inter" panose="020B0604020202020204" charset="0"/>
      <p:regular r:id="rId17"/>
    </p:embeddedFont>
    <p:embeddedFont>
      <p:font typeface="Inter Bold" panose="020B0604020202020204" charset="0"/>
      <p:regular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2" d="100"/>
          <a:sy n="92" d="100"/>
        </p:scale>
        <p:origin x="54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9649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txBody>
          <a:bodyPr/>
          <a:lstStyle/>
          <a:p>
            <a:endParaRPr lang="vi-VN"/>
          </a:p>
        </p:txBody>
      </p:sp>
      <p:sp>
        <p:nvSpPr>
          <p:cNvPr id="3" name="Shape 1"/>
          <p:cNvSpPr/>
          <p:nvPr/>
        </p:nvSpPr>
        <p:spPr>
          <a:xfrm>
            <a:off x="0" y="0"/>
            <a:ext cx="9144000" cy="5143500"/>
          </a:xfrm>
          <a:prstGeom prst="rect">
            <a:avLst/>
          </a:prstGeom>
          <a:solidFill>
            <a:srgbClr val="FFFFFF"/>
          </a:solidFill>
          <a:ln/>
        </p:spPr>
        <p:txBody>
          <a:bodyPr/>
          <a:lstStyle/>
          <a:p>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96119" y="1696194"/>
            <a:ext cx="1176486" cy="233214"/>
          </a:xfrm>
          <a:prstGeom prst="roundRect">
            <a:avLst>
              <a:gd name="adj" fmla="val 17872"/>
            </a:avLst>
          </a:prstGeom>
          <a:solidFill>
            <a:srgbClr val="DADBF1"/>
          </a:solidFill>
          <a:ln/>
        </p:spPr>
        <p:txBody>
          <a:bodyPr/>
          <a:lstStyle/>
          <a:p>
            <a:endParaRPr lang="vi-VN"/>
          </a:p>
        </p:txBody>
      </p:sp>
      <p:sp>
        <p:nvSpPr>
          <p:cNvPr id="3" name="Shape 1"/>
          <p:cNvSpPr/>
          <p:nvPr/>
        </p:nvSpPr>
        <p:spPr>
          <a:xfrm>
            <a:off x="570533" y="1763167"/>
            <a:ext cx="99194" cy="99194"/>
          </a:xfrm>
          <a:prstGeom prst="rect">
            <a:avLst/>
          </a:prstGeom>
          <a:solidFill>
            <a:srgbClr val="272525"/>
          </a:solidFill>
          <a:ln/>
        </p:spPr>
        <p:txBody>
          <a:bodyPr/>
          <a:lstStyle/>
          <a:p>
            <a:endParaRPr lang="vi-VN"/>
          </a:p>
        </p:txBody>
      </p:sp>
      <p:sp>
        <p:nvSpPr>
          <p:cNvPr id="4" name="Text 2"/>
          <p:cNvSpPr/>
          <p:nvPr/>
        </p:nvSpPr>
        <p:spPr>
          <a:xfrm>
            <a:off x="719286" y="1733401"/>
            <a:ext cx="1336104" cy="158800"/>
          </a:xfrm>
          <a:prstGeom prst="rect">
            <a:avLst/>
          </a:prstGeom>
          <a:noFill/>
          <a:ln/>
        </p:spPr>
        <p:txBody>
          <a:bodyPr wrap="none" lIns="0" tIns="0" rIns="0" bIns="0" rtlCol="0" anchor="t"/>
          <a:lstStyle/>
          <a:p>
            <a:pPr marL="0" indent="0" algn="l">
              <a:lnSpc>
                <a:spcPct val="133000"/>
              </a:lnSpc>
              <a:buNone/>
            </a:pPr>
            <a:r>
              <a:rPr lang="en-US" sz="750" dirty="0">
                <a:solidFill>
                  <a:srgbClr val="272525"/>
                </a:solidFill>
                <a:latin typeface="Inter" pitchFamily="34" charset="0"/>
                <a:ea typeface="Inter" pitchFamily="34" charset="-122"/>
                <a:cs typeface="Inter" pitchFamily="34" charset="-120"/>
              </a:rPr>
              <a:t>FASTAPI PROJECT</a:t>
            </a:r>
            <a:endParaRPr lang="en-US" sz="750" dirty="0"/>
          </a:p>
        </p:txBody>
      </p:sp>
      <p:sp>
        <p:nvSpPr>
          <p:cNvPr id="5" name="Shape 3"/>
          <p:cNvSpPr/>
          <p:nvPr/>
        </p:nvSpPr>
        <p:spPr>
          <a:xfrm>
            <a:off x="1734592" y="1696194"/>
            <a:ext cx="1252835" cy="233214"/>
          </a:xfrm>
          <a:prstGeom prst="roundRect">
            <a:avLst>
              <a:gd name="adj" fmla="val 17872"/>
            </a:avLst>
          </a:prstGeom>
          <a:noFill/>
          <a:ln/>
          <a:effectLst>
            <a:outerShdw blurRad="101600" dist="50800" dir="16200000" algn="bl" rotWithShape="0">
              <a:srgbClr val="4950BC">
                <a:alpha val="100000"/>
              </a:srgbClr>
            </a:outerShdw>
          </a:effectLst>
        </p:spPr>
        <p:txBody>
          <a:bodyPr/>
          <a:lstStyle/>
          <a:p>
            <a:endParaRPr lang="vi-VN"/>
          </a:p>
        </p:txBody>
      </p:sp>
      <p:sp>
        <p:nvSpPr>
          <p:cNvPr id="6" name="Shape 4"/>
          <p:cNvSpPr/>
          <p:nvPr/>
        </p:nvSpPr>
        <p:spPr>
          <a:xfrm>
            <a:off x="1809006" y="1763167"/>
            <a:ext cx="99194" cy="99194"/>
          </a:xfrm>
          <a:prstGeom prst="rect">
            <a:avLst/>
          </a:prstGeom>
          <a:solidFill>
            <a:srgbClr val="4950BC"/>
          </a:solidFill>
          <a:ln/>
        </p:spPr>
        <p:txBody>
          <a:bodyPr/>
          <a:lstStyle/>
          <a:p>
            <a:endParaRPr lang="vi-VN"/>
          </a:p>
        </p:txBody>
      </p:sp>
      <p:sp>
        <p:nvSpPr>
          <p:cNvPr id="7" name="Text 5"/>
          <p:cNvSpPr/>
          <p:nvPr/>
        </p:nvSpPr>
        <p:spPr>
          <a:xfrm>
            <a:off x="1957760" y="1733401"/>
            <a:ext cx="1412453" cy="158800"/>
          </a:xfrm>
          <a:prstGeom prst="rect">
            <a:avLst/>
          </a:prstGeom>
          <a:noFill/>
          <a:ln/>
        </p:spPr>
        <p:txBody>
          <a:bodyPr wrap="none" lIns="0" tIns="0" rIns="0" bIns="0" rtlCol="0" anchor="t"/>
          <a:lstStyle/>
          <a:p>
            <a:pPr marL="0" indent="0" algn="l">
              <a:lnSpc>
                <a:spcPct val="133000"/>
              </a:lnSpc>
              <a:buNone/>
            </a:pPr>
            <a:r>
              <a:rPr lang="en-US" sz="750" dirty="0">
                <a:solidFill>
                  <a:srgbClr val="4950BC"/>
                </a:solidFill>
                <a:latin typeface="Inter" pitchFamily="34" charset="0"/>
                <a:ea typeface="Inter" pitchFamily="34" charset="-122"/>
                <a:cs typeface="Inter" pitchFamily="34" charset="-120"/>
              </a:rPr>
              <a:t>LẬP TRÌNH WEB API</a:t>
            </a:r>
            <a:endParaRPr lang="en-US" sz="750" dirty="0"/>
          </a:p>
        </p:txBody>
      </p:sp>
      <p:sp>
        <p:nvSpPr>
          <p:cNvPr id="8" name="Text 6"/>
          <p:cNvSpPr/>
          <p:nvPr/>
        </p:nvSpPr>
        <p:spPr>
          <a:xfrm>
            <a:off x="496119" y="1978968"/>
            <a:ext cx="6253907" cy="387548"/>
          </a:xfrm>
          <a:prstGeom prst="rect">
            <a:avLst/>
          </a:prstGeom>
          <a:noFill/>
          <a:ln/>
        </p:spPr>
        <p:txBody>
          <a:bodyPr wrap="none" lIns="0" tIns="0" rIns="0" bIns="0" rtlCol="0" anchor="t"/>
          <a:lstStyle/>
          <a:p>
            <a:pPr marL="0" indent="0" algn="l">
              <a:lnSpc>
                <a:spcPct val="104000"/>
              </a:lnSpc>
              <a:buNone/>
            </a:pPr>
            <a:r>
              <a:rPr lang="en-US" sz="2400" b="1" dirty="0">
                <a:solidFill>
                  <a:srgbClr val="000000"/>
                </a:solidFill>
                <a:latin typeface="Inter Bold" pitchFamily="34" charset="0"/>
                <a:ea typeface="Inter Bold" pitchFamily="34" charset="-122"/>
                <a:cs typeface="Inter Bold" pitchFamily="34" charset="-120"/>
              </a:rPr>
              <a:t>Xây dựng Team Task Management API</a:t>
            </a:r>
            <a:endParaRPr lang="en-US" sz="2400" dirty="0"/>
          </a:p>
        </p:txBody>
      </p:sp>
      <p:sp>
        <p:nvSpPr>
          <p:cNvPr id="9" name="Text 7"/>
          <p:cNvSpPr/>
          <p:nvPr/>
        </p:nvSpPr>
        <p:spPr>
          <a:xfrm>
            <a:off x="496119" y="2416076"/>
            <a:ext cx="4805437" cy="232544"/>
          </a:xfrm>
          <a:prstGeom prst="rect">
            <a:avLst/>
          </a:prstGeom>
          <a:noFill/>
          <a:ln/>
        </p:spPr>
        <p:txBody>
          <a:bodyPr wrap="none" lIns="0" tIns="0" rIns="0" bIns="0" rtlCol="0" anchor="t"/>
          <a:lstStyle/>
          <a:p>
            <a:pPr marL="0" indent="0" algn="l">
              <a:lnSpc>
                <a:spcPct val="104000"/>
              </a:lnSpc>
              <a:buNone/>
            </a:pPr>
            <a:r>
              <a:rPr lang="en-US" sz="1450" b="1" dirty="0">
                <a:solidFill>
                  <a:srgbClr val="000000"/>
                </a:solidFill>
                <a:latin typeface="Inter Bold" pitchFamily="34" charset="0"/>
                <a:ea typeface="Inter Bold" pitchFamily="34" charset="-122"/>
                <a:cs typeface="Inter Bold" pitchFamily="34" charset="-120"/>
              </a:rPr>
              <a:t>Hệ thống Quản lý Công việc Nhóm bằng FastAPI</a:t>
            </a:r>
            <a:endParaRPr lang="en-US" sz="1450" dirty="0"/>
          </a:p>
        </p:txBody>
      </p:sp>
      <p:sp>
        <p:nvSpPr>
          <p:cNvPr id="10" name="Text 8"/>
          <p:cNvSpPr/>
          <p:nvPr/>
        </p:nvSpPr>
        <p:spPr>
          <a:xfrm>
            <a:off x="496119" y="2834655"/>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72525"/>
                </a:solidFill>
                <a:latin typeface="Inter" pitchFamily="34" charset="0"/>
                <a:ea typeface="Inter" pitchFamily="34" charset="-122"/>
                <a:cs typeface="Inter" pitchFamily="34" charset="-120"/>
              </a:rPr>
              <a:t>Dự án môn học xây dựng hệ thống RESTful API hoàn chỉnh giúp quản lý công việc trong nhóm — từ tạo, cập nhật, tìm kiếm đến xóa công việc — sử dụng framework FastAPI hiện đại, kết hợp Pydantic Validation và Swagger UI tích hợp sẵn.</a:t>
            </a:r>
            <a:endParaRPr lang="en-US" sz="950" dirty="0"/>
          </a:p>
        </p:txBody>
      </p:sp>
      <p:sp>
        <p:nvSpPr>
          <p:cNvPr id="11" name="Shape 9"/>
          <p:cNvSpPr/>
          <p:nvPr/>
        </p:nvSpPr>
        <p:spPr>
          <a:xfrm>
            <a:off x="496119" y="3402062"/>
            <a:ext cx="8151763" cy="14288"/>
          </a:xfrm>
          <a:prstGeom prst="roundRect">
            <a:avLst>
              <a:gd name="adj" fmla="val 59998"/>
            </a:avLst>
          </a:prstGeom>
          <a:solidFill>
            <a:srgbClr val="272525">
              <a:alpha val="50000"/>
            </a:srgbClr>
          </a:solidFill>
          <a:ln/>
        </p:spPr>
        <p:txBody>
          <a:bodyPr/>
          <a:lstStyle/>
          <a:p>
            <a:endParaRPr lang="vi-V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96119" y="419323"/>
            <a:ext cx="1287066" cy="218554"/>
          </a:xfrm>
          <a:prstGeom prst="roundRect">
            <a:avLst>
              <a:gd name="adj" fmla="val 18177"/>
            </a:avLst>
          </a:prstGeom>
          <a:solidFill>
            <a:srgbClr val="DADBF1"/>
          </a:solidFill>
          <a:ln/>
        </p:spPr>
        <p:txBody>
          <a:bodyPr/>
          <a:lstStyle/>
          <a:p>
            <a:endParaRPr lang="vi-VN"/>
          </a:p>
        </p:txBody>
      </p:sp>
      <p:sp>
        <p:nvSpPr>
          <p:cNvPr id="3" name="Text 1"/>
          <p:cNvSpPr/>
          <p:nvPr/>
        </p:nvSpPr>
        <p:spPr>
          <a:xfrm>
            <a:off x="567035" y="454744"/>
            <a:ext cx="1602432" cy="147712"/>
          </a:xfrm>
          <a:prstGeom prst="rect">
            <a:avLst/>
          </a:prstGeom>
          <a:noFill/>
          <a:ln/>
        </p:spPr>
        <p:txBody>
          <a:bodyPr wrap="none" lIns="0" tIns="0" rIns="0" bIns="0" rtlCol="0" anchor="t"/>
          <a:lstStyle/>
          <a:p>
            <a:pPr marL="0" indent="0" algn="l">
              <a:lnSpc>
                <a:spcPct val="130000"/>
              </a:lnSpc>
              <a:buNone/>
            </a:pPr>
            <a:r>
              <a:rPr lang="en-US" sz="700" dirty="0">
                <a:solidFill>
                  <a:srgbClr val="272525"/>
                </a:solidFill>
                <a:latin typeface="Inter" pitchFamily="34" charset="0"/>
                <a:ea typeface="Inter" pitchFamily="34" charset="-122"/>
                <a:cs typeface="Inter" pitchFamily="34" charset="-120"/>
              </a:rPr>
              <a:t>CHƯƠNG 1 · TỔNG QUAN</a:t>
            </a:r>
            <a:endParaRPr lang="en-US" sz="700" dirty="0"/>
          </a:p>
        </p:txBody>
      </p:sp>
      <p:sp>
        <p:nvSpPr>
          <p:cNvPr id="4" name="Text 2"/>
          <p:cNvSpPr/>
          <p:nvPr/>
        </p:nvSpPr>
        <p:spPr>
          <a:xfrm>
            <a:off x="496119" y="682898"/>
            <a:ext cx="3412927" cy="369466"/>
          </a:xfrm>
          <a:prstGeom prst="rect">
            <a:avLst/>
          </a:prstGeom>
          <a:noFill/>
          <a:ln/>
        </p:spPr>
        <p:txBody>
          <a:bodyPr wrap="none" lIns="0" tIns="0" rIns="0" bIns="0" rtlCol="0" anchor="t"/>
          <a:lstStyle/>
          <a:p>
            <a:pPr marL="0" indent="0" algn="l">
              <a:lnSpc>
                <a:spcPct val="104000"/>
              </a:lnSpc>
              <a:buNone/>
            </a:pPr>
            <a:r>
              <a:rPr lang="en-US" sz="2300" b="1" dirty="0">
                <a:solidFill>
                  <a:srgbClr val="000000"/>
                </a:solidFill>
                <a:latin typeface="Inter Bold" pitchFamily="34" charset="0"/>
                <a:ea typeface="Inter Bold" pitchFamily="34" charset="-122"/>
                <a:cs typeface="Inter Bold" pitchFamily="34" charset="-120"/>
              </a:rPr>
              <a:t>Tổng quan hệ thống</a:t>
            </a:r>
            <a:endParaRPr lang="en-US" sz="2300" dirty="0"/>
          </a:p>
        </p:txBody>
      </p:sp>
      <p:sp>
        <p:nvSpPr>
          <p:cNvPr id="5" name="Text 3"/>
          <p:cNvSpPr/>
          <p:nvPr/>
        </p:nvSpPr>
        <p:spPr>
          <a:xfrm>
            <a:off x="496119" y="1221358"/>
            <a:ext cx="8151763" cy="554087"/>
          </a:xfrm>
          <a:prstGeom prst="rect">
            <a:avLst/>
          </a:prstGeom>
          <a:noFill/>
          <a:ln/>
        </p:spPr>
        <p:txBody>
          <a:bodyPr wrap="square" lIns="0" tIns="0" rIns="0" bIns="0" rtlCol="0" anchor="t">
            <a:normAutofit/>
          </a:bodyPr>
          <a:lstStyle/>
          <a:p>
            <a:pPr marL="0" indent="0" algn="l">
              <a:lnSpc>
                <a:spcPct val="130000"/>
              </a:lnSpc>
              <a:buNone/>
            </a:pPr>
            <a:r>
              <a:rPr lang="en-US" sz="900" dirty="0">
                <a:solidFill>
                  <a:srgbClr val="272525"/>
                </a:solidFill>
                <a:latin typeface="Inter" pitchFamily="34" charset="0"/>
                <a:ea typeface="Inter" pitchFamily="34" charset="-122"/>
                <a:cs typeface="Inter" pitchFamily="34" charset="-120"/>
              </a:rPr>
              <a:t>Mục tiêu cốt lõi của dự án là xây dựng một hệ thống RESTful API hoàn chỉnh, cho phép các nhóm làm việc nhanh chóng và linh hoạt trong việc quản lý danh sách công việc. Hệ thống tập trung vào trải nghiệm nhà phát triển (developer experience) bằng cách cung cấp API rõ ràng, tài liệu tự động, và cơ chế validation nghiêm ngặt ngay từ đầu.</a:t>
            </a:r>
            <a:endParaRPr lang="en-US" sz="900" dirty="0"/>
          </a:p>
        </p:txBody>
      </p:sp>
      <p:pic>
        <p:nvPicPr>
          <p:cNvPr id="6" name="Image 0" descr="preencoded.png"/>
          <p:cNvPicPr>
            <a:picLocks noChangeAspect="1"/>
          </p:cNvPicPr>
          <p:nvPr/>
        </p:nvPicPr>
        <p:blipFill>
          <a:blip r:embed="rId3"/>
          <a:stretch>
            <a:fillRect/>
          </a:stretch>
        </p:blipFill>
        <p:spPr>
          <a:xfrm>
            <a:off x="496119" y="1902172"/>
            <a:ext cx="560338" cy="560338"/>
          </a:xfrm>
          <a:prstGeom prst="rect">
            <a:avLst/>
          </a:prstGeom>
        </p:spPr>
      </p:pic>
      <p:sp>
        <p:nvSpPr>
          <p:cNvPr id="7" name="Text 4"/>
          <p:cNvSpPr/>
          <p:nvPr/>
        </p:nvSpPr>
        <p:spPr>
          <a:xfrm>
            <a:off x="1197248" y="1902172"/>
            <a:ext cx="1231181" cy="369391"/>
          </a:xfrm>
          <a:prstGeom prst="rect">
            <a:avLst/>
          </a:prstGeom>
          <a:noFill/>
          <a:ln/>
        </p:spPr>
        <p:txBody>
          <a:bodyPr wrap="square" lIns="0" tIns="0" rIns="0" bIns="0" rtlCol="0" anchor="t">
            <a:normAutofit/>
          </a:bodyPr>
          <a:lstStyle/>
          <a:p>
            <a:pPr marL="0" indent="0" algn="l">
              <a:lnSpc>
                <a:spcPct val="104000"/>
              </a:lnSpc>
              <a:buNone/>
            </a:pPr>
            <a:r>
              <a:rPr lang="en-US" sz="1150" b="1" dirty="0">
                <a:solidFill>
                  <a:srgbClr val="272525"/>
                </a:solidFill>
                <a:latin typeface="Inter Bold" pitchFamily="34" charset="0"/>
                <a:ea typeface="Inter Bold" pitchFamily="34" charset="-122"/>
                <a:cs typeface="Inter Bold" pitchFamily="34" charset="-120"/>
              </a:rPr>
              <a:t>Tạo công việc mới</a:t>
            </a:r>
            <a:endParaRPr lang="en-US" sz="1150" dirty="0"/>
          </a:p>
        </p:txBody>
      </p:sp>
      <p:sp>
        <p:nvSpPr>
          <p:cNvPr id="8" name="Text 5"/>
          <p:cNvSpPr/>
          <p:nvPr/>
        </p:nvSpPr>
        <p:spPr>
          <a:xfrm>
            <a:off x="1197248" y="2339132"/>
            <a:ext cx="1231181" cy="1108174"/>
          </a:xfrm>
          <a:prstGeom prst="rect">
            <a:avLst/>
          </a:prstGeom>
          <a:noFill/>
          <a:ln/>
        </p:spPr>
        <p:txBody>
          <a:bodyPr wrap="square" lIns="0" tIns="0" rIns="0" bIns="0" rtlCol="0" anchor="t">
            <a:normAutofit/>
          </a:bodyPr>
          <a:lstStyle/>
          <a:p>
            <a:pPr marL="0" indent="0" algn="l">
              <a:lnSpc>
                <a:spcPct val="130000"/>
              </a:lnSpc>
              <a:buNone/>
            </a:pPr>
            <a:r>
              <a:rPr lang="en-US" sz="900" dirty="0">
                <a:solidFill>
                  <a:srgbClr val="272525"/>
                </a:solidFill>
                <a:latin typeface="Inter" pitchFamily="34" charset="0"/>
                <a:ea typeface="Inter" pitchFamily="34" charset="-122"/>
                <a:cs typeface="Inter" pitchFamily="34" charset="-120"/>
              </a:rPr>
              <a:t>Endpoint POST /tasks cho phép người dùng tạo mới một task với đầy đủ tiêu đề, mô tả, người thực hiện và độ ưu tiên.</a:t>
            </a:r>
            <a:endParaRPr lang="en-US" sz="900" dirty="0"/>
          </a:p>
        </p:txBody>
      </p:sp>
      <p:pic>
        <p:nvPicPr>
          <p:cNvPr id="9" name="Image 1" descr="preencoded.png"/>
          <p:cNvPicPr>
            <a:picLocks noChangeAspect="1"/>
          </p:cNvPicPr>
          <p:nvPr/>
        </p:nvPicPr>
        <p:blipFill>
          <a:blip r:embed="rId4"/>
          <a:stretch>
            <a:fillRect/>
          </a:stretch>
        </p:blipFill>
        <p:spPr>
          <a:xfrm>
            <a:off x="2569220" y="1902172"/>
            <a:ext cx="560338" cy="560338"/>
          </a:xfrm>
          <a:prstGeom prst="rect">
            <a:avLst/>
          </a:prstGeom>
        </p:spPr>
      </p:pic>
      <p:sp>
        <p:nvSpPr>
          <p:cNvPr id="10" name="Text 6"/>
          <p:cNvSpPr/>
          <p:nvPr/>
        </p:nvSpPr>
        <p:spPr>
          <a:xfrm>
            <a:off x="3270349" y="1902172"/>
            <a:ext cx="1231255" cy="184696"/>
          </a:xfrm>
          <a:prstGeom prst="rect">
            <a:avLst/>
          </a:prstGeom>
          <a:noFill/>
          <a:ln/>
        </p:spPr>
        <p:txBody>
          <a:bodyPr wrap="none" lIns="0" tIns="0" rIns="0" bIns="0" rtlCol="0" anchor="t"/>
          <a:lstStyle/>
          <a:p>
            <a:pPr marL="0" indent="0" algn="l">
              <a:lnSpc>
                <a:spcPct val="104000"/>
              </a:lnSpc>
              <a:buNone/>
            </a:pPr>
            <a:r>
              <a:rPr lang="en-US" sz="1150" b="1" dirty="0">
                <a:solidFill>
                  <a:srgbClr val="272525"/>
                </a:solidFill>
                <a:latin typeface="Inter Bold" pitchFamily="34" charset="0"/>
                <a:ea typeface="Inter Bold" pitchFamily="34" charset="-122"/>
                <a:cs typeface="Inter Bold" pitchFamily="34" charset="-120"/>
              </a:rPr>
              <a:t>Xem &amp; cập nhật</a:t>
            </a:r>
            <a:endParaRPr lang="en-US" sz="1150" dirty="0"/>
          </a:p>
        </p:txBody>
      </p:sp>
      <p:sp>
        <p:nvSpPr>
          <p:cNvPr id="11" name="Text 7"/>
          <p:cNvSpPr/>
          <p:nvPr/>
        </p:nvSpPr>
        <p:spPr>
          <a:xfrm>
            <a:off x="3270349" y="2154436"/>
            <a:ext cx="1231255" cy="1108174"/>
          </a:xfrm>
          <a:prstGeom prst="rect">
            <a:avLst/>
          </a:prstGeom>
          <a:noFill/>
          <a:ln/>
        </p:spPr>
        <p:txBody>
          <a:bodyPr wrap="square" lIns="0" tIns="0" rIns="0" bIns="0" rtlCol="0" anchor="t">
            <a:normAutofit/>
          </a:bodyPr>
          <a:lstStyle/>
          <a:p>
            <a:pPr marL="0" indent="0" algn="l">
              <a:lnSpc>
                <a:spcPct val="130000"/>
              </a:lnSpc>
              <a:buNone/>
            </a:pPr>
            <a:r>
              <a:rPr lang="en-US" sz="900" dirty="0">
                <a:solidFill>
                  <a:srgbClr val="272525"/>
                </a:solidFill>
                <a:latin typeface="Inter" pitchFamily="34" charset="0"/>
                <a:ea typeface="Inter" pitchFamily="34" charset="-122"/>
                <a:cs typeface="Inter" pitchFamily="34" charset="-120"/>
              </a:rPr>
              <a:t>Truy xuất chi tiết công việc theo ID, cập nhật tiến độ trạng thái, hoặc chỉnh sửa thông tin bất kỳ lúc nào.</a:t>
            </a:r>
            <a:endParaRPr lang="en-US" sz="900" dirty="0"/>
          </a:p>
        </p:txBody>
      </p:sp>
      <p:pic>
        <p:nvPicPr>
          <p:cNvPr id="12" name="Image 2" descr="preencoded.png"/>
          <p:cNvPicPr>
            <a:picLocks noChangeAspect="1"/>
          </p:cNvPicPr>
          <p:nvPr/>
        </p:nvPicPr>
        <p:blipFill>
          <a:blip r:embed="rId5"/>
          <a:stretch>
            <a:fillRect/>
          </a:stretch>
        </p:blipFill>
        <p:spPr>
          <a:xfrm>
            <a:off x="4642396" y="1902172"/>
            <a:ext cx="560338" cy="560338"/>
          </a:xfrm>
          <a:prstGeom prst="rect">
            <a:avLst/>
          </a:prstGeom>
        </p:spPr>
      </p:pic>
      <p:sp>
        <p:nvSpPr>
          <p:cNvPr id="13" name="Text 8"/>
          <p:cNvSpPr/>
          <p:nvPr/>
        </p:nvSpPr>
        <p:spPr>
          <a:xfrm>
            <a:off x="5343525" y="1902172"/>
            <a:ext cx="1231181" cy="184696"/>
          </a:xfrm>
          <a:prstGeom prst="rect">
            <a:avLst/>
          </a:prstGeom>
          <a:noFill/>
          <a:ln/>
        </p:spPr>
        <p:txBody>
          <a:bodyPr wrap="none" lIns="0" tIns="0" rIns="0" bIns="0" rtlCol="0" anchor="t"/>
          <a:lstStyle/>
          <a:p>
            <a:pPr marL="0" indent="0" algn="l">
              <a:lnSpc>
                <a:spcPct val="104000"/>
              </a:lnSpc>
              <a:buNone/>
            </a:pPr>
            <a:r>
              <a:rPr lang="en-US" sz="1150" b="1" dirty="0">
                <a:solidFill>
                  <a:srgbClr val="272525"/>
                </a:solidFill>
                <a:latin typeface="Inter Bold" pitchFamily="34" charset="0"/>
                <a:ea typeface="Inter Bold" pitchFamily="34" charset="-122"/>
                <a:cs typeface="Inter Bold" pitchFamily="34" charset="-120"/>
              </a:rPr>
              <a:t>Xóa công việc</a:t>
            </a:r>
            <a:endParaRPr lang="en-US" sz="1150" dirty="0"/>
          </a:p>
        </p:txBody>
      </p:sp>
      <p:sp>
        <p:nvSpPr>
          <p:cNvPr id="14" name="Text 9"/>
          <p:cNvSpPr/>
          <p:nvPr/>
        </p:nvSpPr>
        <p:spPr>
          <a:xfrm>
            <a:off x="5343525" y="2154436"/>
            <a:ext cx="1231181" cy="923479"/>
          </a:xfrm>
          <a:prstGeom prst="rect">
            <a:avLst/>
          </a:prstGeom>
          <a:noFill/>
          <a:ln/>
        </p:spPr>
        <p:txBody>
          <a:bodyPr wrap="square" lIns="0" tIns="0" rIns="0" bIns="0" rtlCol="0" anchor="t">
            <a:normAutofit/>
          </a:bodyPr>
          <a:lstStyle/>
          <a:p>
            <a:pPr marL="0" indent="0" algn="l">
              <a:lnSpc>
                <a:spcPct val="130000"/>
              </a:lnSpc>
              <a:buNone/>
            </a:pPr>
            <a:r>
              <a:rPr lang="en-US" sz="900" dirty="0">
                <a:solidFill>
                  <a:srgbClr val="272525"/>
                </a:solidFill>
                <a:latin typeface="Inter" pitchFamily="34" charset="0"/>
                <a:ea typeface="Inter" pitchFamily="34" charset="-122"/>
                <a:cs typeface="Inter" pitchFamily="34" charset="-120"/>
              </a:rPr>
              <a:t>Gỡ bỏ công việc khỏi hệ thống khi không còn cần thiết, trả về HTTP 204 No Content.</a:t>
            </a:r>
            <a:endParaRPr lang="en-US" sz="900" dirty="0"/>
          </a:p>
        </p:txBody>
      </p:sp>
      <p:pic>
        <p:nvPicPr>
          <p:cNvPr id="15" name="Image 3" descr="preencoded.png"/>
          <p:cNvPicPr>
            <a:picLocks noChangeAspect="1"/>
          </p:cNvPicPr>
          <p:nvPr/>
        </p:nvPicPr>
        <p:blipFill>
          <a:blip r:embed="rId6"/>
          <a:stretch>
            <a:fillRect/>
          </a:stretch>
        </p:blipFill>
        <p:spPr>
          <a:xfrm>
            <a:off x="6715497" y="1902172"/>
            <a:ext cx="560338" cy="560338"/>
          </a:xfrm>
          <a:prstGeom prst="rect">
            <a:avLst/>
          </a:prstGeom>
        </p:spPr>
      </p:pic>
      <p:sp>
        <p:nvSpPr>
          <p:cNvPr id="16" name="Text 10"/>
          <p:cNvSpPr/>
          <p:nvPr/>
        </p:nvSpPr>
        <p:spPr>
          <a:xfrm>
            <a:off x="7416626" y="1902172"/>
            <a:ext cx="1231255" cy="184696"/>
          </a:xfrm>
          <a:prstGeom prst="rect">
            <a:avLst/>
          </a:prstGeom>
          <a:noFill/>
          <a:ln/>
        </p:spPr>
        <p:txBody>
          <a:bodyPr wrap="none" lIns="0" tIns="0" rIns="0" bIns="0" rtlCol="0" anchor="t"/>
          <a:lstStyle/>
          <a:p>
            <a:pPr marL="0" indent="0" algn="l">
              <a:lnSpc>
                <a:spcPct val="104000"/>
              </a:lnSpc>
              <a:buNone/>
            </a:pPr>
            <a:r>
              <a:rPr lang="en-US" sz="1150" b="1" dirty="0">
                <a:solidFill>
                  <a:srgbClr val="272525"/>
                </a:solidFill>
                <a:latin typeface="Inter Bold" pitchFamily="34" charset="0"/>
                <a:ea typeface="Inter Bold" pitchFamily="34" charset="-122"/>
                <a:cs typeface="Inter Bold" pitchFamily="34" charset="-120"/>
              </a:rPr>
              <a:t>Tìm kiếm &amp; lọc</a:t>
            </a:r>
            <a:endParaRPr lang="en-US" sz="1150" dirty="0"/>
          </a:p>
        </p:txBody>
      </p:sp>
      <p:sp>
        <p:nvSpPr>
          <p:cNvPr id="17" name="Text 11"/>
          <p:cNvSpPr/>
          <p:nvPr/>
        </p:nvSpPr>
        <p:spPr>
          <a:xfrm>
            <a:off x="7416626" y="2154436"/>
            <a:ext cx="1231255" cy="923479"/>
          </a:xfrm>
          <a:prstGeom prst="rect">
            <a:avLst/>
          </a:prstGeom>
          <a:noFill/>
          <a:ln/>
        </p:spPr>
        <p:txBody>
          <a:bodyPr wrap="square" lIns="0" tIns="0" rIns="0" bIns="0" rtlCol="0" anchor="t">
            <a:normAutofit/>
          </a:bodyPr>
          <a:lstStyle/>
          <a:p>
            <a:pPr marL="0" indent="0" algn="l">
              <a:lnSpc>
                <a:spcPct val="130000"/>
              </a:lnSpc>
              <a:buNone/>
            </a:pPr>
            <a:r>
              <a:rPr lang="en-US" sz="900" dirty="0">
                <a:solidFill>
                  <a:srgbClr val="272525"/>
                </a:solidFill>
                <a:latin typeface="Inter" pitchFamily="34" charset="0"/>
                <a:ea typeface="Inter" pitchFamily="34" charset="-122"/>
                <a:cs typeface="Inter" pitchFamily="34" charset="-120"/>
              </a:rPr>
              <a:t>Tìm công việc theo từ khóa hoặc trạng thái, hỗ trợ kết hợp nhiều bộ lọc cùng lúc để tra cứu nhanh.</a:t>
            </a:r>
            <a:endParaRPr lang="en-US" sz="900" dirty="0"/>
          </a:p>
        </p:txBody>
      </p:sp>
      <p:sp>
        <p:nvSpPr>
          <p:cNvPr id="18" name="Shape 12"/>
          <p:cNvSpPr/>
          <p:nvPr/>
        </p:nvSpPr>
        <p:spPr>
          <a:xfrm>
            <a:off x="496119" y="3603575"/>
            <a:ext cx="8151763" cy="14288"/>
          </a:xfrm>
          <a:prstGeom prst="roundRect">
            <a:avLst>
              <a:gd name="adj" fmla="val 59998"/>
            </a:avLst>
          </a:prstGeom>
          <a:solidFill>
            <a:srgbClr val="272525">
              <a:alpha val="50000"/>
            </a:srgbClr>
          </a:solidFill>
          <a:ln/>
        </p:spPr>
        <p:txBody>
          <a:bodyPr/>
          <a:lstStyle/>
          <a:p>
            <a:endParaRPr lang="vi-VN"/>
          </a:p>
        </p:txBody>
      </p:sp>
      <p:sp>
        <p:nvSpPr>
          <p:cNvPr id="19" name="Text 13"/>
          <p:cNvSpPr/>
          <p:nvPr/>
        </p:nvSpPr>
        <p:spPr>
          <a:xfrm>
            <a:off x="496119" y="3816400"/>
            <a:ext cx="1935063" cy="184696"/>
          </a:xfrm>
          <a:prstGeom prst="rect">
            <a:avLst/>
          </a:prstGeom>
          <a:noFill/>
          <a:ln/>
        </p:spPr>
        <p:txBody>
          <a:bodyPr wrap="none" lIns="0" tIns="0" rIns="0" bIns="0" rtlCol="0" anchor="t"/>
          <a:lstStyle/>
          <a:p>
            <a:pPr marL="0" indent="0" algn="l">
              <a:lnSpc>
                <a:spcPct val="104000"/>
              </a:lnSpc>
              <a:buNone/>
            </a:pPr>
            <a:r>
              <a:rPr lang="en-US" sz="1150" b="1" dirty="0">
                <a:solidFill>
                  <a:srgbClr val="000000"/>
                </a:solidFill>
                <a:latin typeface="Inter Bold" pitchFamily="34" charset="0"/>
                <a:ea typeface="Inter Bold" pitchFamily="34" charset="-122"/>
                <a:cs typeface="Inter Bold" pitchFamily="34" charset="-120"/>
              </a:rPr>
              <a:t>Công nghệ sử dụng</a:t>
            </a:r>
            <a:endParaRPr lang="en-US" sz="1150" dirty="0"/>
          </a:p>
        </p:txBody>
      </p:sp>
      <p:sp>
        <p:nvSpPr>
          <p:cNvPr id="20" name="Text 14"/>
          <p:cNvSpPr/>
          <p:nvPr/>
        </p:nvSpPr>
        <p:spPr>
          <a:xfrm>
            <a:off x="496119" y="4170090"/>
            <a:ext cx="8151763" cy="554087"/>
          </a:xfrm>
          <a:prstGeom prst="rect">
            <a:avLst/>
          </a:prstGeom>
          <a:noFill/>
          <a:ln/>
        </p:spPr>
        <p:txBody>
          <a:bodyPr wrap="square" lIns="0" tIns="0" rIns="0" bIns="0" rtlCol="0" anchor="t">
            <a:normAutofit/>
          </a:bodyPr>
          <a:lstStyle/>
          <a:p>
            <a:pPr marL="0" indent="0" algn="l">
              <a:lnSpc>
                <a:spcPct val="130000"/>
              </a:lnSpc>
              <a:buNone/>
            </a:pPr>
            <a:r>
              <a:rPr lang="en-US" sz="900" dirty="0">
                <a:solidFill>
                  <a:srgbClr val="272525"/>
                </a:solidFill>
                <a:latin typeface="Inter" pitchFamily="34" charset="0"/>
                <a:ea typeface="Inter" pitchFamily="34" charset="-122"/>
                <a:cs typeface="Inter" pitchFamily="34" charset="-120"/>
              </a:rPr>
              <a:t>Hệ thống được xây dựng trên nền tảng </a:t>
            </a:r>
            <a:r>
              <a:rPr lang="en-US" sz="900" b="1" dirty="0">
                <a:solidFill>
                  <a:srgbClr val="272525"/>
                </a:solidFill>
                <a:latin typeface="Inter Bold" pitchFamily="34" charset="0"/>
                <a:ea typeface="Inter Bold" pitchFamily="34" charset="-122"/>
                <a:cs typeface="Inter Bold" pitchFamily="34" charset="-120"/>
              </a:rPr>
              <a:t>Python</a:t>
            </a:r>
            <a:r>
              <a:rPr lang="en-US" sz="900" dirty="0">
                <a:solidFill>
                  <a:srgbClr val="272525"/>
                </a:solidFill>
                <a:latin typeface="Inter" pitchFamily="34" charset="0"/>
                <a:ea typeface="Inter" pitchFamily="34" charset="-122"/>
                <a:cs typeface="Inter" pitchFamily="34" charset="-120"/>
              </a:rPr>
              <a:t> với framework </a:t>
            </a:r>
            <a:r>
              <a:rPr lang="en-US" sz="900" b="1" dirty="0">
                <a:solidFill>
                  <a:srgbClr val="272525"/>
                </a:solidFill>
                <a:latin typeface="Inter Bold" pitchFamily="34" charset="0"/>
                <a:ea typeface="Inter Bold" pitchFamily="34" charset="-122"/>
                <a:cs typeface="Inter Bold" pitchFamily="34" charset="-120"/>
              </a:rPr>
              <a:t>FastAPI</a:t>
            </a:r>
            <a:r>
              <a:rPr lang="en-US" sz="900" dirty="0">
                <a:solidFill>
                  <a:srgbClr val="272525"/>
                </a:solidFill>
                <a:latin typeface="Inter" pitchFamily="34" charset="0"/>
                <a:ea typeface="Inter" pitchFamily="34" charset="-122"/>
                <a:cs typeface="Inter" pitchFamily="34" charset="-120"/>
              </a:rPr>
              <a:t> — một ASGI framework hiện đại nổi bật với tốc độ cao và tài liệu tự động. </a:t>
            </a:r>
            <a:r>
              <a:rPr lang="en-US" sz="900" b="1" dirty="0">
                <a:solidFill>
                  <a:srgbClr val="272525"/>
                </a:solidFill>
                <a:latin typeface="Inter Bold" pitchFamily="34" charset="0"/>
                <a:ea typeface="Inter Bold" pitchFamily="34" charset="-122"/>
                <a:cs typeface="Inter Bold" pitchFamily="34" charset="-120"/>
              </a:rPr>
              <a:t>Pydantic</a:t>
            </a:r>
            <a:r>
              <a:rPr lang="en-US" sz="900" dirty="0">
                <a:solidFill>
                  <a:srgbClr val="272525"/>
                </a:solidFill>
                <a:latin typeface="Inter" pitchFamily="34" charset="0"/>
                <a:ea typeface="Inter" pitchFamily="34" charset="-122"/>
                <a:cs typeface="Inter" pitchFamily="34" charset="-120"/>
              </a:rPr>
              <a:t> đảm nhiệm việc validate dữ liệu đầu vào dựa trên type hints của Python. Giao diện </a:t>
            </a:r>
            <a:r>
              <a:rPr lang="en-US" sz="900" b="1" dirty="0">
                <a:solidFill>
                  <a:srgbClr val="272525"/>
                </a:solidFill>
                <a:latin typeface="Inter Bold" pitchFamily="34" charset="0"/>
                <a:ea typeface="Inter Bold" pitchFamily="34" charset="-122"/>
                <a:cs typeface="Inter Bold" pitchFamily="34" charset="-120"/>
              </a:rPr>
              <a:t>Swagger UI</a:t>
            </a:r>
            <a:r>
              <a:rPr lang="en-US" sz="900" dirty="0">
                <a:solidFill>
                  <a:srgbClr val="272525"/>
                </a:solidFill>
                <a:latin typeface="Inter" pitchFamily="34" charset="0"/>
                <a:ea typeface="Inter" pitchFamily="34" charset="-122"/>
                <a:cs typeface="Inter" pitchFamily="34" charset="-120"/>
              </a:rPr>
              <a:t> được sinh tự động, cho phép thử nghiệm API ngay trên trình duyệt. Toàn bộ hệ thống tuân thủ nguyên tắc </a:t>
            </a:r>
            <a:r>
              <a:rPr lang="en-US" sz="900" b="1" dirty="0">
                <a:solidFill>
                  <a:srgbClr val="272525"/>
                </a:solidFill>
                <a:latin typeface="Inter Bold" pitchFamily="34" charset="0"/>
                <a:ea typeface="Inter Bold" pitchFamily="34" charset="-122"/>
                <a:cs typeface="Inter Bold" pitchFamily="34" charset="-120"/>
              </a:rPr>
              <a:t>RESTful API</a:t>
            </a:r>
            <a:r>
              <a:rPr lang="en-US" sz="900" dirty="0">
                <a:solidFill>
                  <a:srgbClr val="272525"/>
                </a:solidFill>
                <a:latin typeface="Inter" pitchFamily="34" charset="0"/>
                <a:ea typeface="Inter" pitchFamily="34" charset="-122"/>
                <a:cs typeface="Inter" pitchFamily="34" charset="-120"/>
              </a:rPr>
              <a:t>, với cơ chế lưu trữ trong memory database cho demo nhanh.</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96119" y="377056"/>
            <a:ext cx="828898" cy="130969"/>
          </a:xfrm>
          <a:prstGeom prst="roundRect">
            <a:avLst>
              <a:gd name="adj" fmla="val 20387"/>
            </a:avLst>
          </a:prstGeom>
          <a:solidFill>
            <a:srgbClr val="DADBF1"/>
          </a:solidFill>
          <a:ln/>
        </p:spPr>
        <p:txBody>
          <a:bodyPr/>
          <a:lstStyle/>
          <a:p>
            <a:endParaRPr lang="vi-VN"/>
          </a:p>
        </p:txBody>
      </p:sp>
      <p:sp>
        <p:nvSpPr>
          <p:cNvPr id="3" name="Text 1"/>
          <p:cNvSpPr/>
          <p:nvPr/>
        </p:nvSpPr>
        <p:spPr>
          <a:xfrm>
            <a:off x="543744" y="400869"/>
            <a:ext cx="1190848" cy="83344"/>
          </a:xfrm>
          <a:prstGeom prst="rect">
            <a:avLst/>
          </a:prstGeom>
          <a:noFill/>
          <a:ln/>
        </p:spPr>
        <p:txBody>
          <a:bodyPr wrap="none" lIns="0" tIns="0" rIns="0" bIns="0" rtlCol="0" anchor="t"/>
          <a:lstStyle/>
          <a:p>
            <a:pPr marL="0" indent="0" algn="l">
              <a:lnSpc>
                <a:spcPct val="109000"/>
              </a:lnSpc>
              <a:buNone/>
            </a:pPr>
            <a:r>
              <a:rPr lang="en-US" sz="500" dirty="0">
                <a:solidFill>
                  <a:srgbClr val="272525"/>
                </a:solidFill>
                <a:latin typeface="Inter" pitchFamily="34" charset="0"/>
                <a:ea typeface="Inter" pitchFamily="34" charset="-122"/>
                <a:cs typeface="Inter" pitchFamily="34" charset="-120"/>
              </a:rPr>
              <a:t>CHƯƠNG 2 · KIẾN TRÚC</a:t>
            </a:r>
            <a:endParaRPr lang="en-US" sz="500" dirty="0"/>
          </a:p>
        </p:txBody>
      </p:sp>
      <p:sp>
        <p:nvSpPr>
          <p:cNvPr id="4" name="Text 2"/>
          <p:cNvSpPr/>
          <p:nvPr/>
        </p:nvSpPr>
        <p:spPr>
          <a:xfrm>
            <a:off x="496119" y="528340"/>
            <a:ext cx="2981846" cy="248320"/>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Kiến trúc &amp; Quy trình xử lý</a:t>
            </a:r>
            <a:endParaRPr lang="en-US" sz="1550" dirty="0"/>
          </a:p>
        </p:txBody>
      </p:sp>
      <p:sp>
        <p:nvSpPr>
          <p:cNvPr id="5" name="Text 3"/>
          <p:cNvSpPr/>
          <p:nvPr/>
        </p:nvSpPr>
        <p:spPr>
          <a:xfrm>
            <a:off x="496119" y="853008"/>
            <a:ext cx="8608963" cy="104254"/>
          </a:xfrm>
          <a:prstGeom prst="rect">
            <a:avLst/>
          </a:prstGeom>
          <a:noFill/>
          <a:ln/>
        </p:spPr>
        <p:txBody>
          <a:bodyPr wrap="none" lIns="0" tIns="0" rIns="0" bIns="0" rtlCol="0" anchor="t"/>
          <a:lstStyle/>
          <a:p>
            <a:pPr marL="0" indent="0" algn="l">
              <a:lnSpc>
                <a:spcPct val="109000"/>
              </a:lnSpc>
              <a:buNone/>
            </a:pPr>
            <a:r>
              <a:rPr lang="en-US" sz="600" dirty="0">
                <a:solidFill>
                  <a:srgbClr val="272525"/>
                </a:solidFill>
                <a:latin typeface="Inter" pitchFamily="34" charset="0"/>
                <a:ea typeface="Inter" pitchFamily="34" charset="-122"/>
                <a:cs typeface="Inter" pitchFamily="34" charset="-120"/>
              </a:rPr>
              <a:t>Một yêu cầu HTTP đi qua nhiều lớp xử lý trước khi trả về kết quả. Kiến trúc phân lớp rõ ràng giúp tách biệt trách nhiệm — validation, business logic và storage — đảm bảo code dễ đọc, dễ bảo trì và sẵn sàng mở rộng.</a:t>
            </a:r>
            <a:endParaRPr lang="en-US" sz="600" dirty="0"/>
          </a:p>
        </p:txBody>
      </p:sp>
      <p:pic>
        <p:nvPicPr>
          <p:cNvPr id="6" name="Image 0" descr="preencoded.png"/>
          <p:cNvPicPr>
            <a:picLocks noChangeAspect="1"/>
          </p:cNvPicPr>
          <p:nvPr/>
        </p:nvPicPr>
        <p:blipFill>
          <a:blip r:embed="rId3"/>
          <a:stretch>
            <a:fillRect/>
          </a:stretch>
        </p:blipFill>
        <p:spPr>
          <a:xfrm>
            <a:off x="529679" y="1014487"/>
            <a:ext cx="8084567" cy="3486224"/>
          </a:xfrm>
          <a:prstGeom prst="rect">
            <a:avLst/>
          </a:prstGeom>
        </p:spPr>
      </p:pic>
      <p:sp>
        <p:nvSpPr>
          <p:cNvPr id="7" name="Text 4"/>
          <p:cNvSpPr/>
          <p:nvPr/>
        </p:nvSpPr>
        <p:spPr>
          <a:xfrm>
            <a:off x="1073714" y="3839593"/>
            <a:ext cx="1834102" cy="229263"/>
          </a:xfrm>
          <a:prstGeom prst="rect">
            <a:avLst/>
          </a:prstGeom>
          <a:noFill/>
          <a:ln/>
        </p:spPr>
        <p:txBody>
          <a:bodyPr wrap="none" lIns="0" tIns="0" rIns="0" bIns="0" rtlCol="0" anchor="t"/>
          <a:lstStyle/>
          <a:p>
            <a:pPr marL="0" indent="0" algn="l">
              <a:lnSpc>
                <a:spcPct val="104000"/>
              </a:lnSpc>
              <a:buNone/>
            </a:pPr>
            <a:r>
              <a:rPr lang="en-US" sz="1400" b="1" dirty="0">
                <a:solidFill>
                  <a:srgbClr val="FFFFFF"/>
                </a:solidFill>
                <a:latin typeface="Inter Bold" pitchFamily="34" charset="0"/>
                <a:ea typeface="Inter Bold" pitchFamily="34" charset="-122"/>
                <a:cs typeface="Inter Bold" pitchFamily="34" charset="-120"/>
              </a:rPr>
              <a:t>4. Xử lý Business</a:t>
            </a:r>
            <a:endParaRPr lang="en-US" sz="1400" dirty="0"/>
          </a:p>
        </p:txBody>
      </p:sp>
      <p:sp>
        <p:nvSpPr>
          <p:cNvPr id="8" name="Text 5"/>
          <p:cNvSpPr/>
          <p:nvPr/>
        </p:nvSpPr>
        <p:spPr>
          <a:xfrm>
            <a:off x="1073714" y="3032588"/>
            <a:ext cx="1834102" cy="229263"/>
          </a:xfrm>
          <a:prstGeom prst="rect">
            <a:avLst/>
          </a:prstGeom>
          <a:noFill/>
          <a:ln/>
        </p:spPr>
        <p:txBody>
          <a:bodyPr wrap="none" lIns="0" tIns="0" rIns="0" bIns="0" rtlCol="0" anchor="t"/>
          <a:lstStyle/>
          <a:p>
            <a:pPr marL="0" indent="0" algn="l">
              <a:lnSpc>
                <a:spcPct val="104000"/>
              </a:lnSpc>
              <a:buNone/>
            </a:pPr>
            <a:r>
              <a:rPr lang="en-US" sz="1400" b="1" dirty="0">
                <a:solidFill>
                  <a:srgbClr val="FFFFFF"/>
                </a:solidFill>
                <a:latin typeface="Inter Bold" pitchFamily="34" charset="0"/>
                <a:ea typeface="Inter Bold" pitchFamily="34" charset="-122"/>
                <a:cs typeface="Inter Bold" pitchFamily="34" charset="-120"/>
              </a:rPr>
              <a:t>3. Pydantic kiểm tra</a:t>
            </a:r>
            <a:endParaRPr lang="en-US" sz="1400" dirty="0"/>
          </a:p>
        </p:txBody>
      </p:sp>
      <p:sp>
        <p:nvSpPr>
          <p:cNvPr id="9" name="Text 6"/>
          <p:cNvSpPr/>
          <p:nvPr/>
        </p:nvSpPr>
        <p:spPr>
          <a:xfrm>
            <a:off x="1073714" y="2233735"/>
            <a:ext cx="1834102" cy="229263"/>
          </a:xfrm>
          <a:prstGeom prst="rect">
            <a:avLst/>
          </a:prstGeom>
          <a:noFill/>
          <a:ln/>
        </p:spPr>
        <p:txBody>
          <a:bodyPr wrap="none" lIns="0" tIns="0" rIns="0" bIns="0" rtlCol="0" anchor="t"/>
          <a:lstStyle/>
          <a:p>
            <a:pPr marL="0" indent="0" algn="l">
              <a:lnSpc>
                <a:spcPct val="104000"/>
              </a:lnSpc>
              <a:buNone/>
            </a:pPr>
            <a:r>
              <a:rPr lang="en-US" sz="1400" b="1" dirty="0">
                <a:solidFill>
                  <a:srgbClr val="FFFFFF"/>
                </a:solidFill>
                <a:latin typeface="Inter Bold" pitchFamily="34" charset="0"/>
                <a:ea typeface="Inter Bold" pitchFamily="34" charset="-122"/>
                <a:cs typeface="Inter Bold" pitchFamily="34" charset="-120"/>
              </a:rPr>
              <a:t>2. FastAPI nhận</a:t>
            </a:r>
            <a:endParaRPr lang="en-US" sz="1400" dirty="0"/>
          </a:p>
        </p:txBody>
      </p:sp>
      <p:sp>
        <p:nvSpPr>
          <p:cNvPr id="10" name="Text 7"/>
          <p:cNvSpPr/>
          <p:nvPr/>
        </p:nvSpPr>
        <p:spPr>
          <a:xfrm>
            <a:off x="1073714" y="1426730"/>
            <a:ext cx="1834102" cy="229263"/>
          </a:xfrm>
          <a:prstGeom prst="rect">
            <a:avLst/>
          </a:prstGeom>
          <a:noFill/>
          <a:ln/>
        </p:spPr>
        <p:txBody>
          <a:bodyPr wrap="none" lIns="0" tIns="0" rIns="0" bIns="0" rtlCol="0" anchor="t"/>
          <a:lstStyle/>
          <a:p>
            <a:pPr marL="0" indent="0" algn="l">
              <a:lnSpc>
                <a:spcPct val="104000"/>
              </a:lnSpc>
              <a:buNone/>
            </a:pPr>
            <a:r>
              <a:rPr lang="en-US" sz="1400" b="1" dirty="0">
                <a:solidFill>
                  <a:srgbClr val="FFFFFF"/>
                </a:solidFill>
                <a:latin typeface="Inter Bold" pitchFamily="34" charset="0"/>
                <a:ea typeface="Inter Bold" pitchFamily="34" charset="-122"/>
                <a:cs typeface="Inter Bold" pitchFamily="34" charset="-120"/>
              </a:rPr>
              <a:t>1. Client gửi</a:t>
            </a:r>
            <a:endParaRPr lang="en-US" sz="1400" dirty="0"/>
          </a:p>
        </p:txBody>
      </p:sp>
      <p:sp>
        <p:nvSpPr>
          <p:cNvPr id="11" name="Text 8"/>
          <p:cNvSpPr/>
          <p:nvPr/>
        </p:nvSpPr>
        <p:spPr>
          <a:xfrm>
            <a:off x="496119" y="4557936"/>
            <a:ext cx="8151763"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272525"/>
                </a:solidFill>
                <a:latin typeface="Inter" pitchFamily="34" charset="0"/>
                <a:ea typeface="Inter" pitchFamily="34" charset="-122"/>
                <a:cs typeface="Inter" pitchFamily="34" charset="-120"/>
              </a:rPr>
              <a:t>Endpoint nhận request → FastAPI định tuyến và chuyển dữ liệu qua Pydantic để validate type và constraints → Business Logic xử lý nghiệp vụ (kiểm tra trùng lặp, sinh ID, gán trạng thái) → cuối cùng trả về JSON response được chuẩn hóa.</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96119" y="371996"/>
            <a:ext cx="1422053" cy="195263"/>
          </a:xfrm>
          <a:prstGeom prst="roundRect">
            <a:avLst>
              <a:gd name="adj" fmla="val 18677"/>
            </a:avLst>
          </a:prstGeom>
          <a:solidFill>
            <a:srgbClr val="DADBF1"/>
          </a:solidFill>
          <a:ln/>
        </p:spPr>
        <p:txBody>
          <a:bodyPr/>
          <a:lstStyle/>
          <a:p>
            <a:endParaRPr lang="vi-VN"/>
          </a:p>
        </p:txBody>
      </p:sp>
      <p:sp>
        <p:nvSpPr>
          <p:cNvPr id="3" name="Text 1"/>
          <p:cNvSpPr/>
          <p:nvPr/>
        </p:nvSpPr>
        <p:spPr>
          <a:xfrm>
            <a:off x="561231" y="404515"/>
            <a:ext cx="1749028" cy="130225"/>
          </a:xfrm>
          <a:prstGeom prst="rect">
            <a:avLst/>
          </a:prstGeom>
          <a:noFill/>
          <a:ln/>
        </p:spPr>
        <p:txBody>
          <a:bodyPr wrap="none" lIns="0" tIns="0" rIns="0" bIns="0" rtlCol="0" anchor="t"/>
          <a:lstStyle/>
          <a:p>
            <a:pPr marL="0" indent="0" algn="l">
              <a:lnSpc>
                <a:spcPct val="125000"/>
              </a:lnSpc>
              <a:buNone/>
            </a:pPr>
            <a:r>
              <a:rPr lang="en-US" sz="650" dirty="0">
                <a:solidFill>
                  <a:srgbClr val="272525"/>
                </a:solidFill>
                <a:latin typeface="Inter" pitchFamily="34" charset="0"/>
                <a:ea typeface="Inter" pitchFamily="34" charset="-122"/>
                <a:cs typeface="Inter" pitchFamily="34" charset="-120"/>
              </a:rPr>
              <a:t>CHƯƠNG 3 · THIẾT KẾ DỮ LIỆU</a:t>
            </a:r>
            <a:endParaRPr lang="en-US" sz="650" dirty="0"/>
          </a:p>
        </p:txBody>
      </p:sp>
      <p:sp>
        <p:nvSpPr>
          <p:cNvPr id="4" name="Text 2"/>
          <p:cNvSpPr/>
          <p:nvPr/>
        </p:nvSpPr>
        <p:spPr>
          <a:xfrm>
            <a:off x="496119" y="605210"/>
            <a:ext cx="4147542" cy="339179"/>
          </a:xfrm>
          <a:prstGeom prst="rect">
            <a:avLst/>
          </a:prstGeom>
          <a:noFill/>
          <a:ln/>
        </p:spPr>
        <p:txBody>
          <a:bodyPr wrap="none" lIns="0" tIns="0" rIns="0" bIns="0" rtlCol="0" anchor="t"/>
          <a:lstStyle/>
          <a:p>
            <a:pPr marL="0" indent="0" algn="l">
              <a:lnSpc>
                <a:spcPct val="104000"/>
              </a:lnSpc>
              <a:buNone/>
            </a:pPr>
            <a:r>
              <a:rPr lang="en-US" sz="2100" b="1" dirty="0">
                <a:solidFill>
                  <a:srgbClr val="000000"/>
                </a:solidFill>
                <a:latin typeface="Inter Bold" pitchFamily="34" charset="0"/>
                <a:ea typeface="Inter Bold" pitchFamily="34" charset="-122"/>
                <a:cs typeface="Inter Bold" pitchFamily="34" charset="-120"/>
              </a:rPr>
              <a:t>Thiết kế dữ liệu: Task Model</a:t>
            </a:r>
            <a:endParaRPr lang="en-US" sz="2100" dirty="0"/>
          </a:p>
        </p:txBody>
      </p:sp>
      <p:sp>
        <p:nvSpPr>
          <p:cNvPr id="5" name="Text 3"/>
          <p:cNvSpPr/>
          <p:nvPr/>
        </p:nvSpPr>
        <p:spPr>
          <a:xfrm>
            <a:off x="496119" y="1086817"/>
            <a:ext cx="8151763" cy="325636"/>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272525"/>
                </a:solidFill>
                <a:latin typeface="Inter" pitchFamily="34" charset="0"/>
                <a:ea typeface="Inter" pitchFamily="34" charset="-122"/>
                <a:cs typeface="Inter" pitchFamily="34" charset="-120"/>
              </a:rPr>
              <a:t>Hệ thống sử dụng hai mô hình dữ liệu song song: </a:t>
            </a:r>
            <a:r>
              <a:rPr lang="en-US" sz="850" b="1" dirty="0">
                <a:solidFill>
                  <a:srgbClr val="272525"/>
                </a:solidFill>
                <a:latin typeface="Inter Bold" pitchFamily="34" charset="0"/>
                <a:ea typeface="Inter Bold" pitchFamily="34" charset="-122"/>
                <a:cs typeface="Inter Bold" pitchFamily="34" charset="-120"/>
              </a:rPr>
              <a:t>Internal Model</a:t>
            </a:r>
            <a:r>
              <a:rPr lang="en-US" sz="850" dirty="0">
                <a:solidFill>
                  <a:srgbClr val="272525"/>
                </a:solidFill>
                <a:latin typeface="Inter" pitchFamily="34" charset="0"/>
                <a:ea typeface="Inter" pitchFamily="34" charset="-122"/>
                <a:cs typeface="Inter" pitchFamily="34" charset="-120"/>
              </a:rPr>
              <a:t> lưu trữ đầy đủ thông tin phía server, và </a:t>
            </a:r>
            <a:r>
              <a:rPr lang="en-US" sz="850" b="1" dirty="0">
                <a:solidFill>
                  <a:srgbClr val="272525"/>
                </a:solidFill>
                <a:latin typeface="Inter Bold" pitchFamily="34" charset="0"/>
                <a:ea typeface="Inter Bold" pitchFamily="34" charset="-122"/>
                <a:cs typeface="Inter Bold" pitchFamily="34" charset="-120"/>
              </a:rPr>
              <a:t>Public Response</a:t>
            </a:r>
            <a:r>
              <a:rPr lang="en-US" sz="850" dirty="0">
                <a:solidFill>
                  <a:srgbClr val="272525"/>
                </a:solidFill>
                <a:latin typeface="Inter" pitchFamily="34" charset="0"/>
                <a:ea typeface="Inter" pitchFamily="34" charset="-122"/>
                <a:cs typeface="Inter" pitchFamily="34" charset="-120"/>
              </a:rPr>
              <a:t> loại bỏ các trường nhạy cảm khi trả về client, đảm bảo nguyên tắc bảo mật thông tin (information hiding) trong thiết kế API.</a:t>
            </a:r>
            <a:endParaRPr lang="en-US" sz="850" dirty="0"/>
          </a:p>
        </p:txBody>
      </p:sp>
      <p:sp>
        <p:nvSpPr>
          <p:cNvPr id="6" name="Shape 4"/>
          <p:cNvSpPr/>
          <p:nvPr/>
        </p:nvSpPr>
        <p:spPr>
          <a:xfrm>
            <a:off x="496119" y="1519238"/>
            <a:ext cx="8151763" cy="2585293"/>
          </a:xfrm>
          <a:prstGeom prst="roundRect">
            <a:avLst>
              <a:gd name="adj" fmla="val 1763"/>
            </a:avLst>
          </a:prstGeom>
          <a:noFill/>
          <a:ln w="4763">
            <a:solidFill>
              <a:srgbClr val="000000">
                <a:alpha val="8000"/>
              </a:srgbClr>
            </a:solidFill>
            <a:prstDash val="solid"/>
          </a:ln>
        </p:spPr>
        <p:txBody>
          <a:bodyPr/>
          <a:lstStyle/>
          <a:p>
            <a:endParaRPr lang="vi-VN"/>
          </a:p>
        </p:txBody>
      </p:sp>
      <p:sp>
        <p:nvSpPr>
          <p:cNvPr id="7" name="Shape 5"/>
          <p:cNvSpPr/>
          <p:nvPr/>
        </p:nvSpPr>
        <p:spPr>
          <a:xfrm>
            <a:off x="500881" y="1524000"/>
            <a:ext cx="8142238" cy="286196"/>
          </a:xfrm>
          <a:prstGeom prst="rect">
            <a:avLst/>
          </a:prstGeom>
          <a:solidFill>
            <a:srgbClr val="FFFFFF">
              <a:alpha val="4000"/>
            </a:srgbClr>
          </a:solidFill>
          <a:ln/>
        </p:spPr>
        <p:txBody>
          <a:bodyPr/>
          <a:lstStyle/>
          <a:p>
            <a:endParaRPr lang="vi-VN"/>
          </a:p>
        </p:txBody>
      </p:sp>
      <p:sp>
        <p:nvSpPr>
          <p:cNvPr id="8" name="Text 6"/>
          <p:cNvSpPr/>
          <p:nvPr/>
        </p:nvSpPr>
        <p:spPr>
          <a:xfrm>
            <a:off x="609451" y="1585689"/>
            <a:ext cx="2273350" cy="162818"/>
          </a:xfrm>
          <a:prstGeom prst="rect">
            <a:avLst/>
          </a:prstGeom>
          <a:noFill/>
          <a:ln/>
        </p:spPr>
        <p:txBody>
          <a:bodyPr wrap="none" lIns="0" tIns="0" rIns="0" bIns="0" rtlCol="0" anchor="t"/>
          <a:lstStyle/>
          <a:p>
            <a:pPr marL="0" indent="0" algn="l">
              <a:lnSpc>
                <a:spcPct val="125000"/>
              </a:lnSpc>
              <a:buNone/>
            </a:pPr>
            <a:r>
              <a:rPr lang="en-US" sz="850" b="1" dirty="0">
                <a:solidFill>
                  <a:srgbClr val="272525"/>
                </a:solidFill>
                <a:latin typeface="Inter Bold" pitchFamily="34" charset="0"/>
                <a:ea typeface="Inter Bold" pitchFamily="34" charset="-122"/>
                <a:cs typeface="Inter Bold" pitchFamily="34" charset="-120"/>
              </a:rPr>
              <a:t>Thuộc tính</a:t>
            </a:r>
            <a:endParaRPr lang="en-US" sz="850" dirty="0"/>
          </a:p>
        </p:txBody>
      </p:sp>
      <p:sp>
        <p:nvSpPr>
          <p:cNvPr id="9" name="Text 7"/>
          <p:cNvSpPr/>
          <p:nvPr/>
        </p:nvSpPr>
        <p:spPr>
          <a:xfrm>
            <a:off x="2647355" y="1585689"/>
            <a:ext cx="4306565" cy="162818"/>
          </a:xfrm>
          <a:prstGeom prst="rect">
            <a:avLst/>
          </a:prstGeom>
          <a:noFill/>
          <a:ln/>
        </p:spPr>
        <p:txBody>
          <a:bodyPr wrap="none" lIns="0" tIns="0" rIns="0" bIns="0" rtlCol="0" anchor="t"/>
          <a:lstStyle/>
          <a:p>
            <a:pPr marL="0" indent="0" algn="l">
              <a:lnSpc>
                <a:spcPct val="125000"/>
              </a:lnSpc>
              <a:buNone/>
            </a:pPr>
            <a:r>
              <a:rPr lang="en-US" sz="850" b="1" dirty="0">
                <a:solidFill>
                  <a:srgbClr val="272525"/>
                </a:solidFill>
                <a:latin typeface="Inter Bold" pitchFamily="34" charset="0"/>
                <a:ea typeface="Inter Bold" pitchFamily="34" charset="-122"/>
                <a:cs typeface="Inter Bold" pitchFamily="34" charset="-120"/>
              </a:rPr>
              <a:t>Ý nghĩa</a:t>
            </a:r>
            <a:endParaRPr lang="en-US" sz="850" dirty="0"/>
          </a:p>
        </p:txBody>
      </p:sp>
      <p:sp>
        <p:nvSpPr>
          <p:cNvPr id="10" name="Text 8"/>
          <p:cNvSpPr/>
          <p:nvPr/>
        </p:nvSpPr>
        <p:spPr>
          <a:xfrm>
            <a:off x="6718474" y="1585689"/>
            <a:ext cx="2273350" cy="162818"/>
          </a:xfrm>
          <a:prstGeom prst="rect">
            <a:avLst/>
          </a:prstGeom>
          <a:noFill/>
          <a:ln/>
        </p:spPr>
        <p:txBody>
          <a:bodyPr wrap="none" lIns="0" tIns="0" rIns="0" bIns="0" rtlCol="0" anchor="t"/>
          <a:lstStyle/>
          <a:p>
            <a:pPr marL="0" indent="0" algn="l">
              <a:lnSpc>
                <a:spcPct val="125000"/>
              </a:lnSpc>
              <a:buNone/>
            </a:pPr>
            <a:r>
              <a:rPr lang="en-US" sz="850" b="1" dirty="0">
                <a:solidFill>
                  <a:srgbClr val="272525"/>
                </a:solidFill>
                <a:latin typeface="Inter Bold" pitchFamily="34" charset="0"/>
                <a:ea typeface="Inter Bold" pitchFamily="34" charset="-122"/>
                <a:cs typeface="Inter Bold" pitchFamily="34" charset="-120"/>
              </a:rPr>
              <a:t>Loại</a:t>
            </a:r>
            <a:endParaRPr lang="en-US" sz="850" dirty="0"/>
          </a:p>
        </p:txBody>
      </p:sp>
      <p:sp>
        <p:nvSpPr>
          <p:cNvPr id="11" name="Shape 9"/>
          <p:cNvSpPr/>
          <p:nvPr/>
        </p:nvSpPr>
        <p:spPr>
          <a:xfrm>
            <a:off x="500881" y="1810196"/>
            <a:ext cx="8142238" cy="286196"/>
          </a:xfrm>
          <a:prstGeom prst="rect">
            <a:avLst/>
          </a:prstGeom>
          <a:solidFill>
            <a:srgbClr val="000000">
              <a:alpha val="4000"/>
            </a:srgbClr>
          </a:solidFill>
          <a:ln/>
        </p:spPr>
        <p:txBody>
          <a:bodyPr/>
          <a:lstStyle/>
          <a:p>
            <a:endParaRPr lang="vi-VN"/>
          </a:p>
        </p:txBody>
      </p:sp>
      <p:sp>
        <p:nvSpPr>
          <p:cNvPr id="12" name="Text 10"/>
          <p:cNvSpPr/>
          <p:nvPr/>
        </p:nvSpPr>
        <p:spPr>
          <a:xfrm>
            <a:off x="609451" y="1871886"/>
            <a:ext cx="2273350" cy="162818"/>
          </a:xfrm>
          <a:prstGeom prst="rect">
            <a:avLst/>
          </a:prstGeom>
          <a:noFill/>
          <a:ln/>
        </p:spPr>
        <p:txBody>
          <a:bodyPr wrap="none" lIns="0" tIns="0" rIns="0" bIns="0" rtlCol="0" anchor="t"/>
          <a:lstStyle/>
          <a:p>
            <a:pPr marL="0" indent="0" algn="l">
              <a:lnSpc>
                <a:spcPct val="125000"/>
              </a:lnSpc>
              <a:buNone/>
            </a:pPr>
            <a:r>
              <a:rPr lang="en-US" sz="850" dirty="0">
                <a:solidFill>
                  <a:srgbClr val="272525"/>
                </a:solidFill>
                <a:latin typeface="Inter" pitchFamily="34" charset="0"/>
                <a:ea typeface="Inter" pitchFamily="34" charset="-122"/>
                <a:cs typeface="Inter" pitchFamily="34" charset="-120"/>
              </a:rPr>
              <a:t>id</a:t>
            </a:r>
            <a:endParaRPr lang="en-US" sz="850" dirty="0"/>
          </a:p>
        </p:txBody>
      </p:sp>
      <p:sp>
        <p:nvSpPr>
          <p:cNvPr id="13" name="Text 11"/>
          <p:cNvSpPr/>
          <p:nvPr/>
        </p:nvSpPr>
        <p:spPr>
          <a:xfrm>
            <a:off x="2647355" y="1871886"/>
            <a:ext cx="4306565" cy="162818"/>
          </a:xfrm>
          <a:prstGeom prst="rect">
            <a:avLst/>
          </a:prstGeom>
          <a:noFill/>
          <a:ln/>
        </p:spPr>
        <p:txBody>
          <a:bodyPr wrap="none" lIns="0" tIns="0" rIns="0" bIns="0" rtlCol="0" anchor="t"/>
          <a:lstStyle/>
          <a:p>
            <a:pPr marL="0" indent="0" algn="l">
              <a:lnSpc>
                <a:spcPct val="125000"/>
              </a:lnSpc>
              <a:buNone/>
            </a:pPr>
            <a:r>
              <a:rPr lang="en-US" sz="850" dirty="0">
                <a:solidFill>
                  <a:srgbClr val="272525"/>
                </a:solidFill>
                <a:latin typeface="Inter" pitchFamily="34" charset="0"/>
                <a:ea typeface="Inter" pitchFamily="34" charset="-122"/>
                <a:cs typeface="Inter" pitchFamily="34" charset="-120"/>
              </a:rPr>
              <a:t>Mã công việc (tự động sinh)</a:t>
            </a:r>
            <a:endParaRPr lang="en-US" sz="850" dirty="0"/>
          </a:p>
        </p:txBody>
      </p:sp>
      <p:sp>
        <p:nvSpPr>
          <p:cNvPr id="14" name="Text 12"/>
          <p:cNvSpPr/>
          <p:nvPr/>
        </p:nvSpPr>
        <p:spPr>
          <a:xfrm>
            <a:off x="6718474" y="1871886"/>
            <a:ext cx="2273350" cy="162818"/>
          </a:xfrm>
          <a:prstGeom prst="rect">
            <a:avLst/>
          </a:prstGeom>
          <a:noFill/>
          <a:ln/>
        </p:spPr>
        <p:txBody>
          <a:bodyPr wrap="none" lIns="0" tIns="0" rIns="0" bIns="0" rtlCol="0" anchor="t"/>
          <a:lstStyle/>
          <a:p>
            <a:pPr marL="0" indent="0" algn="l">
              <a:lnSpc>
                <a:spcPct val="125000"/>
              </a:lnSpc>
              <a:buNone/>
            </a:pPr>
            <a:r>
              <a:rPr lang="en-US" sz="850" dirty="0">
                <a:solidFill>
                  <a:srgbClr val="272525"/>
                </a:solidFill>
                <a:latin typeface="Inter" pitchFamily="34" charset="0"/>
                <a:ea typeface="Inter" pitchFamily="34" charset="-122"/>
                <a:cs typeface="Inter" pitchFamily="34" charset="-120"/>
              </a:rPr>
              <a:t>Integer</a:t>
            </a:r>
            <a:endParaRPr lang="en-US" sz="850" dirty="0"/>
          </a:p>
        </p:txBody>
      </p:sp>
      <p:sp>
        <p:nvSpPr>
          <p:cNvPr id="15" name="Shape 13"/>
          <p:cNvSpPr/>
          <p:nvPr/>
        </p:nvSpPr>
        <p:spPr>
          <a:xfrm>
            <a:off x="500881" y="2096393"/>
            <a:ext cx="8142238" cy="286196"/>
          </a:xfrm>
          <a:prstGeom prst="rect">
            <a:avLst/>
          </a:prstGeom>
          <a:solidFill>
            <a:srgbClr val="FFFFFF">
              <a:alpha val="4000"/>
            </a:srgbClr>
          </a:solidFill>
          <a:ln/>
        </p:spPr>
        <p:txBody>
          <a:bodyPr/>
          <a:lstStyle/>
          <a:p>
            <a:endParaRPr lang="vi-VN"/>
          </a:p>
        </p:txBody>
      </p:sp>
      <p:sp>
        <p:nvSpPr>
          <p:cNvPr id="16" name="Text 14"/>
          <p:cNvSpPr/>
          <p:nvPr/>
        </p:nvSpPr>
        <p:spPr>
          <a:xfrm>
            <a:off x="609451" y="2158082"/>
            <a:ext cx="2273350" cy="162818"/>
          </a:xfrm>
          <a:prstGeom prst="rect">
            <a:avLst/>
          </a:prstGeom>
          <a:noFill/>
          <a:ln/>
        </p:spPr>
        <p:txBody>
          <a:bodyPr wrap="none" lIns="0" tIns="0" rIns="0" bIns="0" rtlCol="0" anchor="t"/>
          <a:lstStyle/>
          <a:p>
            <a:pPr marL="0" indent="0" algn="l">
              <a:lnSpc>
                <a:spcPct val="125000"/>
              </a:lnSpc>
              <a:buNone/>
            </a:pPr>
            <a:r>
              <a:rPr lang="en-US" sz="850" dirty="0">
                <a:solidFill>
                  <a:srgbClr val="272525"/>
                </a:solidFill>
                <a:latin typeface="Inter" pitchFamily="34" charset="0"/>
                <a:ea typeface="Inter" pitchFamily="34" charset="-122"/>
                <a:cs typeface="Inter" pitchFamily="34" charset="-120"/>
              </a:rPr>
              <a:t>title</a:t>
            </a:r>
            <a:endParaRPr lang="en-US" sz="850" dirty="0"/>
          </a:p>
        </p:txBody>
      </p:sp>
      <p:sp>
        <p:nvSpPr>
          <p:cNvPr id="17" name="Text 15"/>
          <p:cNvSpPr/>
          <p:nvPr/>
        </p:nvSpPr>
        <p:spPr>
          <a:xfrm>
            <a:off x="2647355" y="2158082"/>
            <a:ext cx="4306565" cy="162818"/>
          </a:xfrm>
          <a:prstGeom prst="rect">
            <a:avLst/>
          </a:prstGeom>
          <a:noFill/>
          <a:ln/>
        </p:spPr>
        <p:txBody>
          <a:bodyPr wrap="none" lIns="0" tIns="0" rIns="0" bIns="0" rtlCol="0" anchor="t"/>
          <a:lstStyle/>
          <a:p>
            <a:pPr marL="0" indent="0" algn="l">
              <a:lnSpc>
                <a:spcPct val="125000"/>
              </a:lnSpc>
              <a:buNone/>
            </a:pPr>
            <a:r>
              <a:rPr lang="en-US" sz="850" dirty="0">
                <a:solidFill>
                  <a:srgbClr val="272525"/>
                </a:solidFill>
                <a:latin typeface="Inter" pitchFamily="34" charset="0"/>
                <a:ea typeface="Inter" pitchFamily="34" charset="-122"/>
                <a:cs typeface="Inter" pitchFamily="34" charset="-120"/>
              </a:rPr>
              <a:t>Tiêu đề công việc (không trùng)</a:t>
            </a:r>
            <a:endParaRPr lang="en-US" sz="850" dirty="0"/>
          </a:p>
        </p:txBody>
      </p:sp>
      <p:sp>
        <p:nvSpPr>
          <p:cNvPr id="18" name="Text 16"/>
          <p:cNvSpPr/>
          <p:nvPr/>
        </p:nvSpPr>
        <p:spPr>
          <a:xfrm>
            <a:off x="6718474" y="2158082"/>
            <a:ext cx="2273350" cy="162818"/>
          </a:xfrm>
          <a:prstGeom prst="rect">
            <a:avLst/>
          </a:prstGeom>
          <a:noFill/>
          <a:ln/>
        </p:spPr>
        <p:txBody>
          <a:bodyPr wrap="none" lIns="0" tIns="0" rIns="0" bIns="0" rtlCol="0" anchor="t"/>
          <a:lstStyle/>
          <a:p>
            <a:pPr marL="0" indent="0" algn="l">
              <a:lnSpc>
                <a:spcPct val="125000"/>
              </a:lnSpc>
              <a:buNone/>
            </a:pPr>
            <a:r>
              <a:rPr lang="en-US" sz="850" dirty="0">
                <a:solidFill>
                  <a:srgbClr val="272525"/>
                </a:solidFill>
                <a:latin typeface="Inter" pitchFamily="34" charset="0"/>
                <a:ea typeface="Inter" pitchFamily="34" charset="-122"/>
                <a:cs typeface="Inter" pitchFamily="34" charset="-120"/>
              </a:rPr>
              <a:t>String (≥ 3 ký tự)</a:t>
            </a:r>
            <a:endParaRPr lang="en-US" sz="850" dirty="0"/>
          </a:p>
        </p:txBody>
      </p:sp>
      <p:sp>
        <p:nvSpPr>
          <p:cNvPr id="19" name="Shape 17"/>
          <p:cNvSpPr/>
          <p:nvPr/>
        </p:nvSpPr>
        <p:spPr>
          <a:xfrm>
            <a:off x="500881" y="2382589"/>
            <a:ext cx="8142238" cy="286196"/>
          </a:xfrm>
          <a:prstGeom prst="rect">
            <a:avLst/>
          </a:prstGeom>
          <a:solidFill>
            <a:srgbClr val="000000">
              <a:alpha val="4000"/>
            </a:srgbClr>
          </a:solidFill>
          <a:ln/>
        </p:spPr>
        <p:txBody>
          <a:bodyPr/>
          <a:lstStyle/>
          <a:p>
            <a:endParaRPr lang="vi-VN"/>
          </a:p>
        </p:txBody>
      </p:sp>
      <p:sp>
        <p:nvSpPr>
          <p:cNvPr id="20" name="Text 18"/>
          <p:cNvSpPr/>
          <p:nvPr/>
        </p:nvSpPr>
        <p:spPr>
          <a:xfrm>
            <a:off x="609451" y="2444279"/>
            <a:ext cx="2273350" cy="162818"/>
          </a:xfrm>
          <a:prstGeom prst="rect">
            <a:avLst/>
          </a:prstGeom>
          <a:noFill/>
          <a:ln/>
        </p:spPr>
        <p:txBody>
          <a:bodyPr wrap="none" lIns="0" tIns="0" rIns="0" bIns="0" rtlCol="0" anchor="t"/>
          <a:lstStyle/>
          <a:p>
            <a:pPr marL="0" indent="0" algn="l">
              <a:lnSpc>
                <a:spcPct val="125000"/>
              </a:lnSpc>
              <a:buNone/>
            </a:pPr>
            <a:r>
              <a:rPr lang="en-US" sz="850" dirty="0">
                <a:solidFill>
                  <a:srgbClr val="272525"/>
                </a:solidFill>
                <a:latin typeface="Inter" pitchFamily="34" charset="0"/>
                <a:ea typeface="Inter" pitchFamily="34" charset="-122"/>
                <a:cs typeface="Inter" pitchFamily="34" charset="-120"/>
              </a:rPr>
              <a:t>description</a:t>
            </a:r>
            <a:endParaRPr lang="en-US" sz="850" dirty="0"/>
          </a:p>
        </p:txBody>
      </p:sp>
      <p:sp>
        <p:nvSpPr>
          <p:cNvPr id="21" name="Text 19"/>
          <p:cNvSpPr/>
          <p:nvPr/>
        </p:nvSpPr>
        <p:spPr>
          <a:xfrm>
            <a:off x="2647355" y="2444279"/>
            <a:ext cx="4306565" cy="162818"/>
          </a:xfrm>
          <a:prstGeom prst="rect">
            <a:avLst/>
          </a:prstGeom>
          <a:noFill/>
          <a:ln/>
        </p:spPr>
        <p:txBody>
          <a:bodyPr wrap="none" lIns="0" tIns="0" rIns="0" bIns="0" rtlCol="0" anchor="t"/>
          <a:lstStyle/>
          <a:p>
            <a:pPr marL="0" indent="0" algn="l">
              <a:lnSpc>
                <a:spcPct val="125000"/>
              </a:lnSpc>
              <a:buNone/>
            </a:pPr>
            <a:r>
              <a:rPr lang="en-US" sz="850" dirty="0">
                <a:solidFill>
                  <a:srgbClr val="272525"/>
                </a:solidFill>
                <a:latin typeface="Inter" pitchFamily="34" charset="0"/>
                <a:ea typeface="Inter" pitchFamily="34" charset="-122"/>
                <a:cs typeface="Inter" pitchFamily="34" charset="-120"/>
              </a:rPr>
              <a:t>Mô tả chi tiết công việc</a:t>
            </a:r>
            <a:endParaRPr lang="en-US" sz="850" dirty="0"/>
          </a:p>
        </p:txBody>
      </p:sp>
      <p:sp>
        <p:nvSpPr>
          <p:cNvPr id="22" name="Text 20"/>
          <p:cNvSpPr/>
          <p:nvPr/>
        </p:nvSpPr>
        <p:spPr>
          <a:xfrm>
            <a:off x="6718474" y="2444279"/>
            <a:ext cx="2273350" cy="162818"/>
          </a:xfrm>
          <a:prstGeom prst="rect">
            <a:avLst/>
          </a:prstGeom>
          <a:noFill/>
          <a:ln/>
        </p:spPr>
        <p:txBody>
          <a:bodyPr wrap="none" lIns="0" tIns="0" rIns="0" bIns="0" rtlCol="0" anchor="t"/>
          <a:lstStyle/>
          <a:p>
            <a:pPr marL="0" indent="0" algn="l">
              <a:lnSpc>
                <a:spcPct val="125000"/>
              </a:lnSpc>
              <a:buNone/>
            </a:pPr>
            <a:r>
              <a:rPr lang="en-US" sz="850" dirty="0">
                <a:solidFill>
                  <a:srgbClr val="272525"/>
                </a:solidFill>
                <a:latin typeface="Inter" pitchFamily="34" charset="0"/>
                <a:ea typeface="Inter" pitchFamily="34" charset="-122"/>
                <a:cs typeface="Inter" pitchFamily="34" charset="-120"/>
              </a:rPr>
              <a:t>String</a:t>
            </a:r>
            <a:endParaRPr lang="en-US" sz="850" dirty="0"/>
          </a:p>
        </p:txBody>
      </p:sp>
      <p:sp>
        <p:nvSpPr>
          <p:cNvPr id="23" name="Shape 21"/>
          <p:cNvSpPr/>
          <p:nvPr/>
        </p:nvSpPr>
        <p:spPr>
          <a:xfrm>
            <a:off x="500881" y="2668786"/>
            <a:ext cx="8142238" cy="286196"/>
          </a:xfrm>
          <a:prstGeom prst="rect">
            <a:avLst/>
          </a:prstGeom>
          <a:solidFill>
            <a:srgbClr val="FFFFFF">
              <a:alpha val="4000"/>
            </a:srgbClr>
          </a:solidFill>
          <a:ln/>
        </p:spPr>
        <p:txBody>
          <a:bodyPr/>
          <a:lstStyle/>
          <a:p>
            <a:endParaRPr lang="vi-VN"/>
          </a:p>
        </p:txBody>
      </p:sp>
      <p:sp>
        <p:nvSpPr>
          <p:cNvPr id="24" name="Text 22"/>
          <p:cNvSpPr/>
          <p:nvPr/>
        </p:nvSpPr>
        <p:spPr>
          <a:xfrm>
            <a:off x="609451" y="2730475"/>
            <a:ext cx="2273350" cy="162818"/>
          </a:xfrm>
          <a:prstGeom prst="rect">
            <a:avLst/>
          </a:prstGeom>
          <a:noFill/>
          <a:ln/>
        </p:spPr>
        <p:txBody>
          <a:bodyPr wrap="none" lIns="0" tIns="0" rIns="0" bIns="0" rtlCol="0" anchor="t"/>
          <a:lstStyle/>
          <a:p>
            <a:pPr marL="0" indent="0" algn="l">
              <a:lnSpc>
                <a:spcPct val="125000"/>
              </a:lnSpc>
              <a:buNone/>
            </a:pPr>
            <a:r>
              <a:rPr lang="en-US" sz="850" dirty="0">
                <a:solidFill>
                  <a:srgbClr val="272525"/>
                </a:solidFill>
                <a:latin typeface="Inter" pitchFamily="34" charset="0"/>
                <a:ea typeface="Inter" pitchFamily="34" charset="-122"/>
                <a:cs typeface="Inter" pitchFamily="34" charset="-120"/>
              </a:rPr>
              <a:t>assignee</a:t>
            </a:r>
            <a:endParaRPr lang="en-US" sz="850" dirty="0"/>
          </a:p>
        </p:txBody>
      </p:sp>
      <p:sp>
        <p:nvSpPr>
          <p:cNvPr id="25" name="Text 23"/>
          <p:cNvSpPr/>
          <p:nvPr/>
        </p:nvSpPr>
        <p:spPr>
          <a:xfrm>
            <a:off x="2647355" y="2730475"/>
            <a:ext cx="4306565" cy="162818"/>
          </a:xfrm>
          <a:prstGeom prst="rect">
            <a:avLst/>
          </a:prstGeom>
          <a:noFill/>
          <a:ln/>
        </p:spPr>
        <p:txBody>
          <a:bodyPr wrap="none" lIns="0" tIns="0" rIns="0" bIns="0" rtlCol="0" anchor="t"/>
          <a:lstStyle/>
          <a:p>
            <a:pPr marL="0" indent="0" algn="l">
              <a:lnSpc>
                <a:spcPct val="125000"/>
              </a:lnSpc>
              <a:buNone/>
            </a:pPr>
            <a:r>
              <a:rPr lang="en-US" sz="850" dirty="0">
                <a:solidFill>
                  <a:srgbClr val="272525"/>
                </a:solidFill>
                <a:latin typeface="Inter" pitchFamily="34" charset="0"/>
                <a:ea typeface="Inter" pitchFamily="34" charset="-122"/>
                <a:cs typeface="Inter" pitchFamily="34" charset="-120"/>
              </a:rPr>
              <a:t>Người thực hiện công việc</a:t>
            </a:r>
            <a:endParaRPr lang="en-US" sz="850" dirty="0"/>
          </a:p>
        </p:txBody>
      </p:sp>
      <p:sp>
        <p:nvSpPr>
          <p:cNvPr id="26" name="Text 24"/>
          <p:cNvSpPr/>
          <p:nvPr/>
        </p:nvSpPr>
        <p:spPr>
          <a:xfrm>
            <a:off x="6718474" y="2730475"/>
            <a:ext cx="2273350" cy="162818"/>
          </a:xfrm>
          <a:prstGeom prst="rect">
            <a:avLst/>
          </a:prstGeom>
          <a:noFill/>
          <a:ln/>
        </p:spPr>
        <p:txBody>
          <a:bodyPr wrap="none" lIns="0" tIns="0" rIns="0" bIns="0" rtlCol="0" anchor="t"/>
          <a:lstStyle/>
          <a:p>
            <a:pPr marL="0" indent="0" algn="l">
              <a:lnSpc>
                <a:spcPct val="125000"/>
              </a:lnSpc>
              <a:buNone/>
            </a:pPr>
            <a:r>
              <a:rPr lang="en-US" sz="850" dirty="0">
                <a:solidFill>
                  <a:srgbClr val="272525"/>
                </a:solidFill>
                <a:latin typeface="Inter" pitchFamily="34" charset="0"/>
                <a:ea typeface="Inter" pitchFamily="34" charset="-122"/>
                <a:cs typeface="Inter" pitchFamily="34" charset="-120"/>
              </a:rPr>
              <a:t>String</a:t>
            </a:r>
            <a:endParaRPr lang="en-US" sz="850" dirty="0"/>
          </a:p>
        </p:txBody>
      </p:sp>
      <p:sp>
        <p:nvSpPr>
          <p:cNvPr id="27" name="Shape 25"/>
          <p:cNvSpPr/>
          <p:nvPr/>
        </p:nvSpPr>
        <p:spPr>
          <a:xfrm>
            <a:off x="500881" y="2954982"/>
            <a:ext cx="8142238" cy="286196"/>
          </a:xfrm>
          <a:prstGeom prst="rect">
            <a:avLst/>
          </a:prstGeom>
          <a:solidFill>
            <a:srgbClr val="000000">
              <a:alpha val="4000"/>
            </a:srgbClr>
          </a:solidFill>
          <a:ln/>
        </p:spPr>
        <p:txBody>
          <a:bodyPr/>
          <a:lstStyle/>
          <a:p>
            <a:endParaRPr lang="vi-VN"/>
          </a:p>
        </p:txBody>
      </p:sp>
      <p:sp>
        <p:nvSpPr>
          <p:cNvPr id="28" name="Text 26"/>
          <p:cNvSpPr/>
          <p:nvPr/>
        </p:nvSpPr>
        <p:spPr>
          <a:xfrm>
            <a:off x="609451" y="3016672"/>
            <a:ext cx="2273350" cy="162818"/>
          </a:xfrm>
          <a:prstGeom prst="rect">
            <a:avLst/>
          </a:prstGeom>
          <a:noFill/>
          <a:ln/>
        </p:spPr>
        <p:txBody>
          <a:bodyPr wrap="none" lIns="0" tIns="0" rIns="0" bIns="0" rtlCol="0" anchor="t"/>
          <a:lstStyle/>
          <a:p>
            <a:pPr marL="0" indent="0" algn="l">
              <a:lnSpc>
                <a:spcPct val="125000"/>
              </a:lnSpc>
              <a:buNone/>
            </a:pPr>
            <a:r>
              <a:rPr lang="en-US" sz="850" dirty="0">
                <a:solidFill>
                  <a:srgbClr val="272525"/>
                </a:solidFill>
                <a:latin typeface="Inter" pitchFamily="34" charset="0"/>
                <a:ea typeface="Inter" pitchFamily="34" charset="-122"/>
                <a:cs typeface="Inter" pitchFamily="34" charset="-120"/>
              </a:rPr>
              <a:t>priority</a:t>
            </a:r>
            <a:endParaRPr lang="en-US" sz="850" dirty="0"/>
          </a:p>
        </p:txBody>
      </p:sp>
      <p:sp>
        <p:nvSpPr>
          <p:cNvPr id="29" name="Text 27"/>
          <p:cNvSpPr/>
          <p:nvPr/>
        </p:nvSpPr>
        <p:spPr>
          <a:xfrm>
            <a:off x="2647355" y="3016672"/>
            <a:ext cx="4306565" cy="162818"/>
          </a:xfrm>
          <a:prstGeom prst="rect">
            <a:avLst/>
          </a:prstGeom>
          <a:noFill/>
          <a:ln/>
        </p:spPr>
        <p:txBody>
          <a:bodyPr wrap="none" lIns="0" tIns="0" rIns="0" bIns="0" rtlCol="0" anchor="t"/>
          <a:lstStyle/>
          <a:p>
            <a:pPr marL="0" indent="0" algn="l">
              <a:lnSpc>
                <a:spcPct val="125000"/>
              </a:lnSpc>
              <a:buNone/>
            </a:pPr>
            <a:r>
              <a:rPr lang="en-US" sz="850" dirty="0">
                <a:solidFill>
                  <a:srgbClr val="272525"/>
                </a:solidFill>
                <a:latin typeface="Inter" pitchFamily="34" charset="0"/>
                <a:ea typeface="Inter" pitchFamily="34" charset="-122"/>
                <a:cs typeface="Inter" pitchFamily="34" charset="-120"/>
              </a:rPr>
              <a:t>Độ ưu tiên (1–5, 1 = cao nhất)</a:t>
            </a:r>
            <a:endParaRPr lang="en-US" sz="850" dirty="0"/>
          </a:p>
        </p:txBody>
      </p:sp>
      <p:sp>
        <p:nvSpPr>
          <p:cNvPr id="30" name="Text 28"/>
          <p:cNvSpPr/>
          <p:nvPr/>
        </p:nvSpPr>
        <p:spPr>
          <a:xfrm>
            <a:off x="6718474" y="3016672"/>
            <a:ext cx="2273350" cy="162818"/>
          </a:xfrm>
          <a:prstGeom prst="rect">
            <a:avLst/>
          </a:prstGeom>
          <a:noFill/>
          <a:ln/>
        </p:spPr>
        <p:txBody>
          <a:bodyPr wrap="none" lIns="0" tIns="0" rIns="0" bIns="0" rtlCol="0" anchor="t"/>
          <a:lstStyle/>
          <a:p>
            <a:pPr marL="0" indent="0" algn="l">
              <a:lnSpc>
                <a:spcPct val="125000"/>
              </a:lnSpc>
              <a:buNone/>
            </a:pPr>
            <a:r>
              <a:rPr lang="en-US" sz="850" dirty="0">
                <a:solidFill>
                  <a:srgbClr val="272525"/>
                </a:solidFill>
                <a:latin typeface="Inter" pitchFamily="34" charset="0"/>
                <a:ea typeface="Inter" pitchFamily="34" charset="-122"/>
                <a:cs typeface="Inter" pitchFamily="34" charset="-120"/>
              </a:rPr>
              <a:t>Integer (1–5)</a:t>
            </a:r>
            <a:endParaRPr lang="en-US" sz="850" dirty="0"/>
          </a:p>
        </p:txBody>
      </p:sp>
      <p:sp>
        <p:nvSpPr>
          <p:cNvPr id="31" name="Shape 29"/>
          <p:cNvSpPr/>
          <p:nvPr/>
        </p:nvSpPr>
        <p:spPr>
          <a:xfrm>
            <a:off x="500881" y="3241179"/>
            <a:ext cx="8142238" cy="286196"/>
          </a:xfrm>
          <a:prstGeom prst="rect">
            <a:avLst/>
          </a:prstGeom>
          <a:solidFill>
            <a:srgbClr val="FFFFFF">
              <a:alpha val="4000"/>
            </a:srgbClr>
          </a:solidFill>
          <a:ln/>
        </p:spPr>
        <p:txBody>
          <a:bodyPr/>
          <a:lstStyle/>
          <a:p>
            <a:endParaRPr lang="vi-VN"/>
          </a:p>
        </p:txBody>
      </p:sp>
      <p:sp>
        <p:nvSpPr>
          <p:cNvPr id="32" name="Text 30"/>
          <p:cNvSpPr/>
          <p:nvPr/>
        </p:nvSpPr>
        <p:spPr>
          <a:xfrm>
            <a:off x="609451" y="3302868"/>
            <a:ext cx="2273350" cy="162818"/>
          </a:xfrm>
          <a:prstGeom prst="rect">
            <a:avLst/>
          </a:prstGeom>
          <a:noFill/>
          <a:ln/>
        </p:spPr>
        <p:txBody>
          <a:bodyPr wrap="none" lIns="0" tIns="0" rIns="0" bIns="0" rtlCol="0" anchor="t"/>
          <a:lstStyle/>
          <a:p>
            <a:pPr marL="0" indent="0" algn="l">
              <a:lnSpc>
                <a:spcPct val="125000"/>
              </a:lnSpc>
              <a:buNone/>
            </a:pPr>
            <a:r>
              <a:rPr lang="en-US" sz="850" dirty="0">
                <a:solidFill>
                  <a:srgbClr val="272525"/>
                </a:solidFill>
                <a:latin typeface="Inter" pitchFamily="34" charset="0"/>
                <a:ea typeface="Inter" pitchFamily="34" charset="-122"/>
                <a:cs typeface="Inter" pitchFamily="34" charset="-120"/>
              </a:rPr>
              <a:t>status</a:t>
            </a:r>
            <a:endParaRPr lang="en-US" sz="850" dirty="0"/>
          </a:p>
        </p:txBody>
      </p:sp>
      <p:sp>
        <p:nvSpPr>
          <p:cNvPr id="33" name="Text 31"/>
          <p:cNvSpPr/>
          <p:nvPr/>
        </p:nvSpPr>
        <p:spPr>
          <a:xfrm>
            <a:off x="2647355" y="3302868"/>
            <a:ext cx="4306565" cy="162818"/>
          </a:xfrm>
          <a:prstGeom prst="rect">
            <a:avLst/>
          </a:prstGeom>
          <a:noFill/>
          <a:ln/>
        </p:spPr>
        <p:txBody>
          <a:bodyPr wrap="none" lIns="0" tIns="0" rIns="0" bIns="0" rtlCol="0" anchor="t"/>
          <a:lstStyle/>
          <a:p>
            <a:pPr marL="0" indent="0" algn="l">
              <a:lnSpc>
                <a:spcPct val="125000"/>
              </a:lnSpc>
              <a:buNone/>
            </a:pPr>
            <a:r>
              <a:rPr lang="en-US" sz="850" dirty="0">
                <a:solidFill>
                  <a:srgbClr val="272525"/>
                </a:solidFill>
                <a:latin typeface="Inter" pitchFamily="34" charset="0"/>
                <a:ea typeface="Inter" pitchFamily="34" charset="-122"/>
                <a:cs typeface="Inter" pitchFamily="34" charset="-120"/>
              </a:rPr>
              <a:t>Trạng thái công việc</a:t>
            </a:r>
            <a:endParaRPr lang="en-US" sz="850" dirty="0"/>
          </a:p>
        </p:txBody>
      </p:sp>
      <p:sp>
        <p:nvSpPr>
          <p:cNvPr id="34" name="Text 32"/>
          <p:cNvSpPr/>
          <p:nvPr/>
        </p:nvSpPr>
        <p:spPr>
          <a:xfrm>
            <a:off x="6718474" y="3302868"/>
            <a:ext cx="2273350" cy="162818"/>
          </a:xfrm>
          <a:prstGeom prst="rect">
            <a:avLst/>
          </a:prstGeom>
          <a:noFill/>
          <a:ln/>
        </p:spPr>
        <p:txBody>
          <a:bodyPr wrap="none" lIns="0" tIns="0" rIns="0" bIns="0" rtlCol="0" anchor="t"/>
          <a:lstStyle/>
          <a:p>
            <a:pPr marL="0" indent="0" algn="l">
              <a:lnSpc>
                <a:spcPct val="125000"/>
              </a:lnSpc>
              <a:buNone/>
            </a:pPr>
            <a:r>
              <a:rPr lang="en-US" sz="850" dirty="0">
                <a:solidFill>
                  <a:srgbClr val="272525"/>
                </a:solidFill>
                <a:latin typeface="Inter" pitchFamily="34" charset="0"/>
                <a:ea typeface="Inter" pitchFamily="34" charset="-122"/>
                <a:cs typeface="Inter" pitchFamily="34" charset="-120"/>
              </a:rPr>
              <a:t>Enum: todo | in_progress | done</a:t>
            </a:r>
            <a:endParaRPr lang="en-US" sz="850" dirty="0"/>
          </a:p>
        </p:txBody>
      </p:sp>
      <p:sp>
        <p:nvSpPr>
          <p:cNvPr id="35" name="Shape 33"/>
          <p:cNvSpPr/>
          <p:nvPr/>
        </p:nvSpPr>
        <p:spPr>
          <a:xfrm>
            <a:off x="500881" y="3527375"/>
            <a:ext cx="8142238" cy="286196"/>
          </a:xfrm>
          <a:prstGeom prst="rect">
            <a:avLst/>
          </a:prstGeom>
          <a:solidFill>
            <a:srgbClr val="000000">
              <a:alpha val="4000"/>
            </a:srgbClr>
          </a:solidFill>
          <a:ln/>
        </p:spPr>
        <p:txBody>
          <a:bodyPr/>
          <a:lstStyle/>
          <a:p>
            <a:endParaRPr lang="vi-VN"/>
          </a:p>
        </p:txBody>
      </p:sp>
      <p:sp>
        <p:nvSpPr>
          <p:cNvPr id="36" name="Text 34"/>
          <p:cNvSpPr/>
          <p:nvPr/>
        </p:nvSpPr>
        <p:spPr>
          <a:xfrm>
            <a:off x="609451" y="3589065"/>
            <a:ext cx="2273350" cy="162818"/>
          </a:xfrm>
          <a:prstGeom prst="rect">
            <a:avLst/>
          </a:prstGeom>
          <a:noFill/>
          <a:ln/>
        </p:spPr>
        <p:txBody>
          <a:bodyPr wrap="none" lIns="0" tIns="0" rIns="0" bIns="0" rtlCol="0" anchor="t"/>
          <a:lstStyle/>
          <a:p>
            <a:pPr marL="0" indent="0" algn="l">
              <a:lnSpc>
                <a:spcPct val="125000"/>
              </a:lnSpc>
              <a:buNone/>
            </a:pPr>
            <a:r>
              <a:rPr lang="en-US" sz="850" dirty="0">
                <a:solidFill>
                  <a:srgbClr val="272525"/>
                </a:solidFill>
                <a:latin typeface="Inter" pitchFamily="34" charset="0"/>
                <a:ea typeface="Inter" pitchFamily="34" charset="-122"/>
                <a:cs typeface="Inter" pitchFamily="34" charset="-120"/>
              </a:rPr>
              <a:t>created_at</a:t>
            </a:r>
            <a:endParaRPr lang="en-US" sz="850" dirty="0"/>
          </a:p>
        </p:txBody>
      </p:sp>
      <p:sp>
        <p:nvSpPr>
          <p:cNvPr id="37" name="Text 35"/>
          <p:cNvSpPr/>
          <p:nvPr/>
        </p:nvSpPr>
        <p:spPr>
          <a:xfrm>
            <a:off x="2647355" y="3589065"/>
            <a:ext cx="4306565" cy="162818"/>
          </a:xfrm>
          <a:prstGeom prst="rect">
            <a:avLst/>
          </a:prstGeom>
          <a:noFill/>
          <a:ln/>
        </p:spPr>
        <p:txBody>
          <a:bodyPr wrap="none" lIns="0" tIns="0" rIns="0" bIns="0" rtlCol="0" anchor="t"/>
          <a:lstStyle/>
          <a:p>
            <a:pPr marL="0" indent="0" algn="l">
              <a:lnSpc>
                <a:spcPct val="125000"/>
              </a:lnSpc>
              <a:buNone/>
            </a:pPr>
            <a:r>
              <a:rPr lang="en-US" sz="850" dirty="0">
                <a:solidFill>
                  <a:srgbClr val="272525"/>
                </a:solidFill>
                <a:latin typeface="Inter" pitchFamily="34" charset="0"/>
                <a:ea typeface="Inter" pitchFamily="34" charset="-122"/>
                <a:cs typeface="Inter" pitchFamily="34" charset="-120"/>
              </a:rPr>
              <a:t>Thời gian tạo (tự động)</a:t>
            </a:r>
            <a:endParaRPr lang="en-US" sz="850" dirty="0"/>
          </a:p>
        </p:txBody>
      </p:sp>
      <p:sp>
        <p:nvSpPr>
          <p:cNvPr id="38" name="Text 36"/>
          <p:cNvSpPr/>
          <p:nvPr/>
        </p:nvSpPr>
        <p:spPr>
          <a:xfrm>
            <a:off x="6718474" y="3589065"/>
            <a:ext cx="2273350" cy="162818"/>
          </a:xfrm>
          <a:prstGeom prst="rect">
            <a:avLst/>
          </a:prstGeom>
          <a:noFill/>
          <a:ln/>
        </p:spPr>
        <p:txBody>
          <a:bodyPr wrap="none" lIns="0" tIns="0" rIns="0" bIns="0" rtlCol="0" anchor="t"/>
          <a:lstStyle/>
          <a:p>
            <a:pPr marL="0" indent="0" algn="l">
              <a:lnSpc>
                <a:spcPct val="125000"/>
              </a:lnSpc>
              <a:buNone/>
            </a:pPr>
            <a:r>
              <a:rPr lang="en-US" sz="850" dirty="0">
                <a:solidFill>
                  <a:srgbClr val="272525"/>
                </a:solidFill>
                <a:latin typeface="Inter" pitchFamily="34" charset="0"/>
                <a:ea typeface="Inter" pitchFamily="34" charset="-122"/>
                <a:cs typeface="Inter" pitchFamily="34" charset="-120"/>
              </a:rPr>
              <a:t>DateTime</a:t>
            </a:r>
            <a:endParaRPr lang="en-US" sz="850" dirty="0"/>
          </a:p>
        </p:txBody>
      </p:sp>
      <p:sp>
        <p:nvSpPr>
          <p:cNvPr id="39" name="Shape 37"/>
          <p:cNvSpPr/>
          <p:nvPr/>
        </p:nvSpPr>
        <p:spPr>
          <a:xfrm>
            <a:off x="500881" y="3813572"/>
            <a:ext cx="8142238" cy="286196"/>
          </a:xfrm>
          <a:prstGeom prst="rect">
            <a:avLst/>
          </a:prstGeom>
          <a:solidFill>
            <a:srgbClr val="FFFFFF">
              <a:alpha val="4000"/>
            </a:srgbClr>
          </a:solidFill>
          <a:ln/>
        </p:spPr>
        <p:txBody>
          <a:bodyPr/>
          <a:lstStyle/>
          <a:p>
            <a:endParaRPr lang="vi-VN"/>
          </a:p>
        </p:txBody>
      </p:sp>
      <p:sp>
        <p:nvSpPr>
          <p:cNvPr id="40" name="Text 38"/>
          <p:cNvSpPr/>
          <p:nvPr/>
        </p:nvSpPr>
        <p:spPr>
          <a:xfrm>
            <a:off x="609451" y="3875261"/>
            <a:ext cx="2273350" cy="162818"/>
          </a:xfrm>
          <a:prstGeom prst="rect">
            <a:avLst/>
          </a:prstGeom>
          <a:noFill/>
          <a:ln/>
        </p:spPr>
        <p:txBody>
          <a:bodyPr wrap="none" lIns="0" tIns="0" rIns="0" bIns="0" rtlCol="0" anchor="t"/>
          <a:lstStyle/>
          <a:p>
            <a:pPr marL="0" indent="0" algn="l">
              <a:lnSpc>
                <a:spcPct val="125000"/>
              </a:lnSpc>
              <a:buNone/>
            </a:pPr>
            <a:r>
              <a:rPr lang="en-US" sz="850" b="1" dirty="0">
                <a:solidFill>
                  <a:srgbClr val="272525"/>
                </a:solidFill>
                <a:latin typeface="Inter Bold" pitchFamily="34" charset="0"/>
                <a:ea typeface="Inter Bold" pitchFamily="34" charset="-122"/>
                <a:cs typeface="Inter Bold" pitchFamily="34" charset="-120"/>
              </a:rPr>
              <a:t>internal_notes</a:t>
            </a:r>
            <a:endParaRPr lang="en-US" sz="850" dirty="0"/>
          </a:p>
        </p:txBody>
      </p:sp>
      <p:sp>
        <p:nvSpPr>
          <p:cNvPr id="41" name="Text 39"/>
          <p:cNvSpPr/>
          <p:nvPr/>
        </p:nvSpPr>
        <p:spPr>
          <a:xfrm>
            <a:off x="2647355" y="3875261"/>
            <a:ext cx="4306565" cy="162818"/>
          </a:xfrm>
          <a:prstGeom prst="rect">
            <a:avLst/>
          </a:prstGeom>
          <a:noFill/>
          <a:ln/>
        </p:spPr>
        <p:txBody>
          <a:bodyPr wrap="none" lIns="0" tIns="0" rIns="0" bIns="0" rtlCol="0" anchor="t"/>
          <a:lstStyle/>
          <a:p>
            <a:pPr marL="0" indent="0" algn="l">
              <a:lnSpc>
                <a:spcPct val="125000"/>
              </a:lnSpc>
              <a:buNone/>
            </a:pPr>
            <a:r>
              <a:rPr lang="en-US" sz="850" b="1" dirty="0">
                <a:solidFill>
                  <a:srgbClr val="272525"/>
                </a:solidFill>
                <a:latin typeface="Inter Bold" pitchFamily="34" charset="0"/>
                <a:ea typeface="Inter Bold" pitchFamily="34" charset="-122"/>
                <a:cs typeface="Inter Bold" pitchFamily="34" charset="-120"/>
              </a:rPr>
              <a:t>Ghi chú nội bộ — KHÔNG trả về client</a:t>
            </a:r>
            <a:endParaRPr lang="en-US" sz="850" dirty="0"/>
          </a:p>
        </p:txBody>
      </p:sp>
      <p:sp>
        <p:nvSpPr>
          <p:cNvPr id="42" name="Text 40"/>
          <p:cNvSpPr/>
          <p:nvPr/>
        </p:nvSpPr>
        <p:spPr>
          <a:xfrm>
            <a:off x="6718474" y="3875261"/>
            <a:ext cx="2273350" cy="162818"/>
          </a:xfrm>
          <a:prstGeom prst="rect">
            <a:avLst/>
          </a:prstGeom>
          <a:noFill/>
          <a:ln/>
        </p:spPr>
        <p:txBody>
          <a:bodyPr wrap="none" lIns="0" tIns="0" rIns="0" bIns="0" rtlCol="0" anchor="t"/>
          <a:lstStyle/>
          <a:p>
            <a:pPr marL="0" indent="0" algn="l">
              <a:lnSpc>
                <a:spcPct val="125000"/>
              </a:lnSpc>
              <a:buNone/>
            </a:pPr>
            <a:r>
              <a:rPr lang="en-US" sz="850" dirty="0">
                <a:solidFill>
                  <a:srgbClr val="272525"/>
                </a:solidFill>
                <a:latin typeface="Inter" pitchFamily="34" charset="0"/>
                <a:ea typeface="Inter" pitchFamily="34" charset="-122"/>
                <a:cs typeface="Inter" pitchFamily="34" charset="-120"/>
              </a:rPr>
              <a:t>String (ẩn)</a:t>
            </a:r>
            <a:endParaRPr lang="en-US" sz="850" dirty="0"/>
          </a:p>
        </p:txBody>
      </p:sp>
      <p:sp>
        <p:nvSpPr>
          <p:cNvPr id="43" name="Shape 41"/>
          <p:cNvSpPr/>
          <p:nvPr/>
        </p:nvSpPr>
        <p:spPr>
          <a:xfrm>
            <a:off x="496119" y="4211315"/>
            <a:ext cx="8151763" cy="560189"/>
          </a:xfrm>
          <a:prstGeom prst="roundRect">
            <a:avLst>
              <a:gd name="adj" fmla="val 8138"/>
            </a:avLst>
          </a:prstGeom>
          <a:solidFill>
            <a:srgbClr val="DADBF1"/>
          </a:solidFill>
          <a:ln/>
        </p:spPr>
        <p:txBody>
          <a:bodyPr/>
          <a:lstStyle/>
          <a:p>
            <a:endParaRPr lang="vi-VN"/>
          </a:p>
        </p:txBody>
      </p:sp>
      <p:pic>
        <p:nvPicPr>
          <p:cNvPr id="44" name="Image 0" descr="preencoded.png"/>
          <p:cNvPicPr>
            <a:picLocks noChangeAspect="1"/>
          </p:cNvPicPr>
          <p:nvPr/>
        </p:nvPicPr>
        <p:blipFill>
          <a:blip r:embed="rId3"/>
          <a:stretch>
            <a:fillRect/>
          </a:stretch>
        </p:blipFill>
        <p:spPr>
          <a:xfrm>
            <a:off x="604614" y="4361483"/>
            <a:ext cx="135657" cy="108496"/>
          </a:xfrm>
          <a:prstGeom prst="rect">
            <a:avLst/>
          </a:prstGeom>
        </p:spPr>
      </p:pic>
      <p:sp>
        <p:nvSpPr>
          <p:cNvPr id="45" name="Text 42"/>
          <p:cNvSpPr/>
          <p:nvPr/>
        </p:nvSpPr>
        <p:spPr>
          <a:xfrm>
            <a:off x="848767" y="4333354"/>
            <a:ext cx="7690619" cy="325636"/>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000000"/>
                </a:solidFill>
                <a:latin typeface="Inter" pitchFamily="34" charset="0"/>
                <a:ea typeface="Inter" pitchFamily="34" charset="-122"/>
                <a:cs typeface="Inter" pitchFamily="34" charset="-120"/>
              </a:rPr>
              <a:t>Bảo mật dữ liệu: Trường </a:t>
            </a:r>
            <a:r>
              <a:rPr lang="en-US" sz="850" b="1" dirty="0">
                <a:solidFill>
                  <a:srgbClr val="000000"/>
                </a:solidFill>
                <a:latin typeface="Inter Bold" pitchFamily="34" charset="0"/>
                <a:ea typeface="Inter Bold" pitchFamily="34" charset="-122"/>
                <a:cs typeface="Inter Bold" pitchFamily="34" charset="-120"/>
              </a:rPr>
              <a:t>internal_notes</a:t>
            </a:r>
            <a:r>
              <a:rPr lang="en-US" sz="850" dirty="0">
                <a:solidFill>
                  <a:srgbClr val="000000"/>
                </a:solidFill>
                <a:latin typeface="Inter" pitchFamily="34" charset="0"/>
                <a:ea typeface="Inter" pitchFamily="34" charset="-122"/>
                <a:cs typeface="Inter" pitchFamily="34" charset="-120"/>
              </a:rPr>
              <a:t> chỉ tồn tại trong Internal Model và sẽ bị loại bỏ khỏi Public Response, đảm bảo ghi chú nội bộ không bao giờ bị lộ ra ngoài.</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96119" y="387921"/>
            <a:ext cx="1285429" cy="168473"/>
          </a:xfrm>
          <a:prstGeom prst="roundRect">
            <a:avLst>
              <a:gd name="adj" fmla="val 19328"/>
            </a:avLst>
          </a:prstGeom>
          <a:solidFill>
            <a:srgbClr val="DADBF1"/>
          </a:solidFill>
          <a:ln/>
        </p:spPr>
        <p:txBody>
          <a:bodyPr/>
          <a:lstStyle/>
          <a:p>
            <a:endParaRPr lang="vi-VN"/>
          </a:p>
        </p:txBody>
      </p:sp>
      <p:sp>
        <p:nvSpPr>
          <p:cNvPr id="3" name="Text 1"/>
          <p:cNvSpPr/>
          <p:nvPr/>
        </p:nvSpPr>
        <p:spPr>
          <a:xfrm>
            <a:off x="554236" y="416942"/>
            <a:ext cx="1626394" cy="110430"/>
          </a:xfrm>
          <a:prstGeom prst="rect">
            <a:avLst/>
          </a:prstGeom>
          <a:noFill/>
          <a:ln/>
        </p:spPr>
        <p:txBody>
          <a:bodyPr wrap="none" lIns="0" tIns="0" rIns="0" bIns="0" rtlCol="0" anchor="t"/>
          <a:lstStyle/>
          <a:p>
            <a:pPr marL="0" indent="0" algn="l">
              <a:lnSpc>
                <a:spcPct val="119000"/>
              </a:lnSpc>
              <a:buNone/>
            </a:pPr>
            <a:r>
              <a:rPr lang="en-US" sz="600" dirty="0">
                <a:solidFill>
                  <a:srgbClr val="272525"/>
                </a:solidFill>
                <a:latin typeface="Inter" pitchFamily="34" charset="0"/>
                <a:ea typeface="Inter" pitchFamily="34" charset="-122"/>
                <a:cs typeface="Inter" pitchFamily="34" charset="-120"/>
              </a:rPr>
              <a:t>CHƯƠNG 4 · API: CREATE TASK</a:t>
            </a:r>
            <a:endParaRPr lang="en-US" sz="600" dirty="0"/>
          </a:p>
        </p:txBody>
      </p:sp>
      <p:sp>
        <p:nvSpPr>
          <p:cNvPr id="4" name="Text 2"/>
          <p:cNvSpPr/>
          <p:nvPr/>
        </p:nvSpPr>
        <p:spPr>
          <a:xfrm>
            <a:off x="496119" y="586606"/>
            <a:ext cx="4402634" cy="302865"/>
          </a:xfrm>
          <a:prstGeom prst="rect">
            <a:avLst/>
          </a:prstGeom>
          <a:noFill/>
          <a:ln/>
        </p:spPr>
        <p:txBody>
          <a:bodyPr wrap="none" lIns="0" tIns="0" rIns="0" bIns="0" rtlCol="0" anchor="t"/>
          <a:lstStyle/>
          <a:p>
            <a:pPr marL="0" indent="0" algn="l">
              <a:lnSpc>
                <a:spcPct val="104000"/>
              </a:lnSpc>
              <a:buNone/>
            </a:pPr>
            <a:r>
              <a:rPr lang="en-US" sz="1900" b="1" dirty="0">
                <a:solidFill>
                  <a:srgbClr val="000000"/>
                </a:solidFill>
                <a:latin typeface="Inter Bold" pitchFamily="34" charset="0"/>
                <a:ea typeface="Inter Bold" pitchFamily="34" charset="-122"/>
                <a:cs typeface="Inter Bold" pitchFamily="34" charset="-120"/>
              </a:rPr>
              <a:t>POST /tasks — Tạo công việc mới</a:t>
            </a:r>
            <a:endParaRPr lang="en-US" sz="1900" dirty="0"/>
          </a:p>
        </p:txBody>
      </p:sp>
      <p:sp>
        <p:nvSpPr>
          <p:cNvPr id="5" name="Text 3"/>
          <p:cNvSpPr/>
          <p:nvPr/>
        </p:nvSpPr>
        <p:spPr>
          <a:xfrm>
            <a:off x="496119" y="1003027"/>
            <a:ext cx="8151763" cy="285601"/>
          </a:xfrm>
          <a:prstGeom prst="rect">
            <a:avLst/>
          </a:prstGeom>
          <a:noFill/>
          <a:ln/>
        </p:spPr>
        <p:txBody>
          <a:bodyPr wrap="square" lIns="0" tIns="0" rIns="0" bIns="0" rtlCol="0" anchor="t">
            <a:normAutofit/>
          </a:bodyPr>
          <a:lstStyle/>
          <a:p>
            <a:pPr marL="0" indent="0" algn="l">
              <a:lnSpc>
                <a:spcPct val="119000"/>
              </a:lnSpc>
              <a:buNone/>
            </a:pPr>
            <a:r>
              <a:rPr lang="en-US" sz="750" dirty="0">
                <a:solidFill>
                  <a:srgbClr val="272525"/>
                </a:solidFill>
                <a:latin typeface="Inter" pitchFamily="34" charset="0"/>
                <a:ea typeface="Inter" pitchFamily="34" charset="-122"/>
                <a:cs typeface="Inter" pitchFamily="34" charset="-120"/>
              </a:rPr>
              <a:t>Endpoint </a:t>
            </a:r>
            <a:r>
              <a:rPr lang="en-US" sz="750" dirty="0">
                <a:solidFill>
                  <a:srgbClr val="272525"/>
                </a:solidFill>
                <a:highlight>
                  <a:srgbClr val="F2F2F2"/>
                </a:highlight>
                <a:latin typeface="Consolas" pitchFamily="34" charset="0"/>
                <a:ea typeface="Consolas" pitchFamily="34" charset="-122"/>
                <a:cs typeface="Consolas" pitchFamily="34" charset="-120"/>
              </a:rPr>
              <a:t>POST /tasks</a:t>
            </a:r>
            <a:r>
              <a:rPr lang="en-US" sz="750" dirty="0">
                <a:solidFill>
                  <a:srgbClr val="272525"/>
                </a:solidFill>
                <a:latin typeface="Inter" pitchFamily="34" charset="0"/>
                <a:ea typeface="Inter" pitchFamily="34" charset="-122"/>
                <a:cs typeface="Inter" pitchFamily="34" charset="-120"/>
              </a:rPr>
              <a:t> cho phép client gửi một JSON payload để tạo mới công việc. Hệ thống sẽ validate dữ liệu, kiểm tra trùng lặp, sinh ID tự động, đặt trạng thái mặc định là </a:t>
            </a:r>
            <a:r>
              <a:rPr lang="en-US" sz="750" dirty="0">
                <a:solidFill>
                  <a:srgbClr val="272525"/>
                </a:solidFill>
                <a:highlight>
                  <a:srgbClr val="F2F2F2"/>
                </a:highlight>
                <a:latin typeface="Consolas" pitchFamily="34" charset="0"/>
                <a:ea typeface="Consolas" pitchFamily="34" charset="-122"/>
                <a:cs typeface="Consolas" pitchFamily="34" charset="-120"/>
              </a:rPr>
              <a:t>todo</a:t>
            </a:r>
            <a:r>
              <a:rPr lang="en-US" sz="750" dirty="0">
                <a:solidFill>
                  <a:srgbClr val="272525"/>
                </a:solidFill>
                <a:latin typeface="Inter" pitchFamily="34" charset="0"/>
                <a:ea typeface="Inter" pitchFamily="34" charset="-122"/>
                <a:cs typeface="Inter" pitchFamily="34" charset="-120"/>
              </a:rPr>
              <a:t>, và gán timestamp tự động cho </a:t>
            </a:r>
            <a:r>
              <a:rPr lang="en-US" sz="750" dirty="0">
                <a:solidFill>
                  <a:srgbClr val="272525"/>
                </a:solidFill>
                <a:highlight>
                  <a:srgbClr val="F2F2F2"/>
                </a:highlight>
                <a:latin typeface="Consolas" pitchFamily="34" charset="0"/>
                <a:ea typeface="Consolas" pitchFamily="34" charset="-122"/>
                <a:cs typeface="Consolas" pitchFamily="34" charset="-120"/>
              </a:rPr>
              <a:t>created_at</a:t>
            </a:r>
            <a:r>
              <a:rPr lang="en-US" sz="750" dirty="0">
                <a:solidFill>
                  <a:srgbClr val="272525"/>
                </a:solidFill>
                <a:latin typeface="Inter" pitchFamily="34" charset="0"/>
                <a:ea typeface="Inter" pitchFamily="34" charset="-122"/>
                <a:cs typeface="Inter" pitchFamily="34" charset="-120"/>
              </a:rPr>
              <a:t>.</a:t>
            </a:r>
            <a:endParaRPr lang="en-US" sz="750" dirty="0"/>
          </a:p>
        </p:txBody>
      </p:sp>
      <p:sp>
        <p:nvSpPr>
          <p:cNvPr id="6" name="Text 4"/>
          <p:cNvSpPr/>
          <p:nvPr/>
        </p:nvSpPr>
        <p:spPr>
          <a:xfrm>
            <a:off x="496119" y="1449437"/>
            <a:ext cx="1668587" cy="151433"/>
          </a:xfrm>
          <a:prstGeom prst="rect">
            <a:avLst/>
          </a:prstGeom>
          <a:noFill/>
          <a:ln/>
        </p:spPr>
        <p:txBody>
          <a:bodyPr wrap="none" lIns="0" tIns="0" rIns="0" bIns="0" rtlCol="0" anchor="t"/>
          <a:lstStyle/>
          <a:p>
            <a:pPr marL="0" indent="0" algn="l">
              <a:lnSpc>
                <a:spcPct val="104000"/>
              </a:lnSpc>
              <a:buNone/>
            </a:pPr>
            <a:r>
              <a:rPr lang="en-US" sz="950" b="1" dirty="0">
                <a:solidFill>
                  <a:srgbClr val="000000"/>
                </a:solidFill>
                <a:latin typeface="Inter Bold" pitchFamily="34" charset="0"/>
                <a:ea typeface="Inter Bold" pitchFamily="34" charset="-122"/>
                <a:cs typeface="Inter Bold" pitchFamily="34" charset="-120"/>
              </a:rPr>
              <a:t>Request Body</a:t>
            </a:r>
            <a:endParaRPr lang="en-US" sz="950" dirty="0"/>
          </a:p>
        </p:txBody>
      </p:sp>
      <p:sp>
        <p:nvSpPr>
          <p:cNvPr id="7" name="Shape 5"/>
          <p:cNvSpPr/>
          <p:nvPr/>
        </p:nvSpPr>
        <p:spPr>
          <a:xfrm>
            <a:off x="496119" y="1685999"/>
            <a:ext cx="4377110" cy="1022003"/>
          </a:xfrm>
          <a:prstGeom prst="roundRect">
            <a:avLst>
              <a:gd name="adj" fmla="val 3983"/>
            </a:avLst>
          </a:prstGeom>
          <a:solidFill>
            <a:srgbClr val="F2F2F2"/>
          </a:solidFill>
          <a:ln/>
        </p:spPr>
        <p:txBody>
          <a:bodyPr/>
          <a:lstStyle/>
          <a:p>
            <a:endParaRPr lang="vi-VN"/>
          </a:p>
        </p:txBody>
      </p:sp>
      <p:sp>
        <p:nvSpPr>
          <p:cNvPr id="8" name="Shape 6"/>
          <p:cNvSpPr/>
          <p:nvPr/>
        </p:nvSpPr>
        <p:spPr>
          <a:xfrm>
            <a:off x="491282" y="1685999"/>
            <a:ext cx="4386783" cy="1022003"/>
          </a:xfrm>
          <a:prstGeom prst="roundRect">
            <a:avLst>
              <a:gd name="adj" fmla="val 1422"/>
            </a:avLst>
          </a:prstGeom>
          <a:solidFill>
            <a:srgbClr val="F2F2F2"/>
          </a:solidFill>
          <a:ln/>
        </p:spPr>
        <p:txBody>
          <a:bodyPr/>
          <a:lstStyle/>
          <a:p>
            <a:endParaRPr lang="vi-VN"/>
          </a:p>
        </p:txBody>
      </p:sp>
      <p:sp>
        <p:nvSpPr>
          <p:cNvPr id="9" name="Text 7"/>
          <p:cNvSpPr/>
          <p:nvPr/>
        </p:nvSpPr>
        <p:spPr>
          <a:xfrm>
            <a:off x="612353" y="1782887"/>
            <a:ext cx="4144640" cy="828229"/>
          </a:xfrm>
          <a:prstGeom prst="rect">
            <a:avLst/>
          </a:prstGeom>
          <a:noFill/>
          <a:ln/>
        </p:spPr>
        <p:txBody>
          <a:bodyPr wrap="square" lIns="0" tIns="0" rIns="0" bIns="0" rtlCol="0" anchor="t">
            <a:normAutofit/>
          </a:bodyPr>
          <a:lstStyle/>
          <a:p>
            <a:pPr marL="0" indent="0" algn="l">
              <a:lnSpc>
                <a:spcPct val="119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a:t>
            </a:r>
            <a:endParaRPr lang="en-US" sz="750" dirty="0"/>
          </a:p>
          <a:p>
            <a:pPr marL="0" indent="0" algn="l">
              <a:lnSpc>
                <a:spcPct val="119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"title": "Thiết kế Database",</a:t>
            </a:r>
            <a:endParaRPr lang="en-US" sz="750" dirty="0"/>
          </a:p>
          <a:p>
            <a:pPr marL="0" indent="0" algn="l">
              <a:lnSpc>
                <a:spcPct val="119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"description": "Thiết kế schema cho hệ thống quản lý công việc",</a:t>
            </a:r>
            <a:endParaRPr lang="en-US" sz="750" dirty="0"/>
          </a:p>
          <a:p>
            <a:pPr marL="0" indent="0" algn="l">
              <a:lnSpc>
                <a:spcPct val="119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"assignee": "Nam",</a:t>
            </a:r>
            <a:endParaRPr lang="en-US" sz="750" dirty="0"/>
          </a:p>
          <a:p>
            <a:pPr marL="0" indent="0" algn="l">
              <a:lnSpc>
                <a:spcPct val="119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"priority": 1</a:t>
            </a:r>
            <a:endParaRPr lang="en-US" sz="750" dirty="0"/>
          </a:p>
          <a:p>
            <a:pPr marL="0" indent="0" algn="l">
              <a:lnSpc>
                <a:spcPct val="119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a:t>
            </a:r>
            <a:endParaRPr lang="en-US" sz="750" dirty="0"/>
          </a:p>
        </p:txBody>
      </p:sp>
      <p:sp>
        <p:nvSpPr>
          <p:cNvPr id="10" name="Shape 8"/>
          <p:cNvSpPr/>
          <p:nvPr/>
        </p:nvSpPr>
        <p:spPr>
          <a:xfrm>
            <a:off x="5044604" y="1373758"/>
            <a:ext cx="3677692" cy="1419374"/>
          </a:xfrm>
          <a:prstGeom prst="roundRect">
            <a:avLst>
              <a:gd name="adj" fmla="val 4916"/>
            </a:avLst>
          </a:prstGeom>
          <a:solidFill>
            <a:srgbClr val="3B82F6"/>
          </a:solidFill>
          <a:ln/>
        </p:spPr>
        <p:txBody>
          <a:bodyPr/>
          <a:lstStyle/>
          <a:p>
            <a:endParaRPr lang="vi-VN"/>
          </a:p>
        </p:txBody>
      </p:sp>
      <p:sp>
        <p:nvSpPr>
          <p:cNvPr id="11" name="Text 9"/>
          <p:cNvSpPr/>
          <p:nvPr/>
        </p:nvSpPr>
        <p:spPr>
          <a:xfrm>
            <a:off x="5141491" y="1449437"/>
            <a:ext cx="1668587" cy="151433"/>
          </a:xfrm>
          <a:prstGeom prst="rect">
            <a:avLst/>
          </a:prstGeom>
          <a:noFill/>
          <a:ln/>
        </p:spPr>
        <p:txBody>
          <a:bodyPr wrap="none" lIns="0" tIns="0" rIns="0" bIns="0" rtlCol="0" anchor="t"/>
          <a:lstStyle/>
          <a:p>
            <a:pPr marL="0" indent="0" algn="l">
              <a:lnSpc>
                <a:spcPct val="104000"/>
              </a:lnSpc>
              <a:buNone/>
            </a:pPr>
            <a:r>
              <a:rPr lang="en-US" sz="950" b="1" dirty="0">
                <a:solidFill>
                  <a:srgbClr val="000000"/>
                </a:solidFill>
                <a:latin typeface="Inter Bold" pitchFamily="34" charset="0"/>
                <a:ea typeface="Inter Bold" pitchFamily="34" charset="-122"/>
                <a:cs typeface="Inter Bold" pitchFamily="34" charset="-120"/>
              </a:rPr>
              <a:t>Quy trình xử lý</a:t>
            </a:r>
            <a:endParaRPr lang="en-US" sz="950" dirty="0"/>
          </a:p>
        </p:txBody>
      </p:sp>
      <p:sp>
        <p:nvSpPr>
          <p:cNvPr id="12" name="Text 10"/>
          <p:cNvSpPr/>
          <p:nvPr/>
        </p:nvSpPr>
        <p:spPr>
          <a:xfrm>
            <a:off x="5141491" y="1676549"/>
            <a:ext cx="3483918" cy="970211"/>
          </a:xfrm>
          <a:prstGeom prst="rect">
            <a:avLst/>
          </a:prstGeom>
          <a:noFill/>
          <a:ln/>
        </p:spPr>
        <p:txBody>
          <a:bodyPr wrap="square" lIns="0" tIns="0" rIns="0" bIns="0" rtlCol="0" anchor="t">
            <a:normAutofit/>
          </a:bodyPr>
          <a:lstStyle/>
          <a:p>
            <a:pPr marL="152400" indent="-152400" algn="l">
              <a:lnSpc>
                <a:spcPct val="119000"/>
              </a:lnSpc>
              <a:buSzPct val="100000"/>
              <a:buFont typeface="+mj-lt"/>
              <a:buAutoNum type="arabicPeriod"/>
            </a:pPr>
            <a:r>
              <a:rPr lang="en-US" sz="750" dirty="0">
                <a:solidFill>
                  <a:srgbClr val="000000"/>
                </a:solidFill>
                <a:latin typeface="Inter" pitchFamily="34" charset="0"/>
                <a:ea typeface="Inter" pitchFamily="34" charset="-122"/>
                <a:cs typeface="Inter" pitchFamily="34" charset="-120"/>
              </a:rPr>
              <a:t>Pydantic validate dữ liệu đầu vào</a:t>
            </a:r>
            <a:endParaRPr lang="en-US" sz="750" dirty="0"/>
          </a:p>
          <a:p>
            <a:pPr marL="152400" indent="-152400" algn="l">
              <a:lnSpc>
                <a:spcPct val="119000"/>
              </a:lnSpc>
              <a:buSzPct val="100000"/>
              <a:buFont typeface="+mj-lt"/>
              <a:buAutoNum type="arabicPeriod" startAt="2"/>
            </a:pPr>
            <a:r>
              <a:rPr lang="en-US" sz="750" dirty="0">
                <a:solidFill>
                  <a:srgbClr val="000000"/>
                </a:solidFill>
                <a:latin typeface="Inter" pitchFamily="34" charset="0"/>
                <a:ea typeface="Inter" pitchFamily="34" charset="-122"/>
                <a:cs typeface="Inter" pitchFamily="34" charset="-120"/>
              </a:rPr>
              <a:t>Kiểm tra title trùng trong DB</a:t>
            </a:r>
            <a:endParaRPr lang="en-US" sz="750" dirty="0"/>
          </a:p>
          <a:p>
            <a:pPr marL="152400" indent="-152400" algn="l">
              <a:lnSpc>
                <a:spcPct val="119000"/>
              </a:lnSpc>
              <a:buSzPct val="100000"/>
              <a:buFont typeface="+mj-lt"/>
              <a:buAutoNum type="arabicPeriod" startAt="3"/>
            </a:pPr>
            <a:r>
              <a:rPr lang="en-US" sz="750" dirty="0">
                <a:solidFill>
                  <a:srgbClr val="000000"/>
                </a:solidFill>
                <a:latin typeface="Inter" pitchFamily="34" charset="0"/>
                <a:ea typeface="Inter" pitchFamily="34" charset="-122"/>
                <a:cs typeface="Inter" pitchFamily="34" charset="-120"/>
              </a:rPr>
              <a:t>Sinh ID tự động (auto-increment)</a:t>
            </a:r>
            <a:endParaRPr lang="en-US" sz="750" dirty="0"/>
          </a:p>
          <a:p>
            <a:pPr marL="152400" indent="-152400" algn="l">
              <a:lnSpc>
                <a:spcPct val="119000"/>
              </a:lnSpc>
              <a:buSzPct val="100000"/>
              <a:buFont typeface="+mj-lt"/>
              <a:buAutoNum type="arabicPeriod" startAt="4"/>
            </a:pPr>
            <a:r>
              <a:rPr lang="en-US" sz="750" dirty="0">
                <a:solidFill>
                  <a:srgbClr val="000000"/>
                </a:solidFill>
                <a:latin typeface="Inter" pitchFamily="34" charset="0"/>
                <a:ea typeface="Inter" pitchFamily="34" charset="-122"/>
                <a:cs typeface="Inter" pitchFamily="34" charset="-120"/>
              </a:rPr>
              <a:t>Gán </a:t>
            </a:r>
            <a:r>
              <a:rPr lang="en-US" sz="750" dirty="0">
                <a:solidFill>
                  <a:srgbClr val="000000"/>
                </a:solidFill>
                <a:highlight>
                  <a:srgbClr val="488FFF"/>
                </a:highlight>
                <a:latin typeface="Consolas" pitchFamily="34" charset="0"/>
                <a:ea typeface="Consolas" pitchFamily="34" charset="-122"/>
                <a:cs typeface="Consolas" pitchFamily="34" charset="-120"/>
              </a:rPr>
              <a:t>status = todo</a:t>
            </a:r>
            <a:r>
              <a:rPr lang="en-US" sz="750" dirty="0">
                <a:solidFill>
                  <a:srgbClr val="000000"/>
                </a:solidFill>
                <a:latin typeface="Inter" pitchFamily="34" charset="0"/>
                <a:ea typeface="Inter" pitchFamily="34" charset="-122"/>
                <a:cs typeface="Inter" pitchFamily="34" charset="-120"/>
              </a:rPr>
              <a:t> mặc định</a:t>
            </a:r>
            <a:endParaRPr lang="en-US" sz="750" dirty="0"/>
          </a:p>
          <a:p>
            <a:pPr marL="152400" indent="-152400" algn="l">
              <a:lnSpc>
                <a:spcPct val="119000"/>
              </a:lnSpc>
              <a:buSzPct val="100000"/>
              <a:buFont typeface="+mj-lt"/>
              <a:buAutoNum type="arabicPeriod" startAt="5"/>
            </a:pPr>
            <a:r>
              <a:rPr lang="en-US" sz="750" dirty="0">
                <a:solidFill>
                  <a:srgbClr val="000000"/>
                </a:solidFill>
                <a:latin typeface="Inter" pitchFamily="34" charset="0"/>
                <a:ea typeface="Inter" pitchFamily="34" charset="-122"/>
                <a:cs typeface="Inter" pitchFamily="34" charset="-120"/>
              </a:rPr>
              <a:t>Gán </a:t>
            </a:r>
            <a:r>
              <a:rPr lang="en-US" sz="750" dirty="0">
                <a:solidFill>
                  <a:srgbClr val="000000"/>
                </a:solidFill>
                <a:highlight>
                  <a:srgbClr val="488FFF"/>
                </a:highlight>
                <a:latin typeface="Consolas" pitchFamily="34" charset="0"/>
                <a:ea typeface="Consolas" pitchFamily="34" charset="-122"/>
                <a:cs typeface="Consolas" pitchFamily="34" charset="-120"/>
              </a:rPr>
              <a:t>created_at</a:t>
            </a:r>
            <a:r>
              <a:rPr lang="en-US" sz="750" dirty="0">
                <a:solidFill>
                  <a:srgbClr val="000000"/>
                </a:solidFill>
                <a:latin typeface="Inter" pitchFamily="34" charset="0"/>
                <a:ea typeface="Inter" pitchFamily="34" charset="-122"/>
                <a:cs typeface="Inter" pitchFamily="34" charset="-120"/>
              </a:rPr>
              <a:t> = thời gian hiện tại</a:t>
            </a:r>
            <a:endParaRPr lang="en-US" sz="750" dirty="0"/>
          </a:p>
          <a:p>
            <a:pPr marL="152400" indent="-152400" algn="l">
              <a:lnSpc>
                <a:spcPct val="119000"/>
              </a:lnSpc>
              <a:buSzPct val="100000"/>
              <a:buFont typeface="+mj-lt"/>
              <a:buAutoNum type="arabicPeriod" startAt="6"/>
            </a:pPr>
            <a:r>
              <a:rPr lang="en-US" sz="750" dirty="0">
                <a:solidFill>
                  <a:srgbClr val="000000"/>
                </a:solidFill>
                <a:latin typeface="Inter" pitchFamily="34" charset="0"/>
                <a:ea typeface="Inter" pitchFamily="34" charset="-122"/>
                <a:cs typeface="Inter" pitchFamily="34" charset="-120"/>
              </a:rPr>
              <a:t>Lưu vào tasks_db và trả về response</a:t>
            </a:r>
            <a:endParaRPr lang="en-US" sz="750" dirty="0"/>
          </a:p>
        </p:txBody>
      </p:sp>
      <p:sp>
        <p:nvSpPr>
          <p:cNvPr id="13" name="Shape 11"/>
          <p:cNvSpPr/>
          <p:nvPr/>
        </p:nvSpPr>
        <p:spPr>
          <a:xfrm>
            <a:off x="496119" y="2902446"/>
            <a:ext cx="8151763" cy="14288"/>
          </a:xfrm>
          <a:prstGeom prst="roundRect">
            <a:avLst>
              <a:gd name="adj" fmla="val 59998"/>
            </a:avLst>
          </a:prstGeom>
          <a:solidFill>
            <a:srgbClr val="272525">
              <a:alpha val="50000"/>
            </a:srgbClr>
          </a:solidFill>
          <a:ln/>
        </p:spPr>
        <p:txBody>
          <a:bodyPr/>
          <a:lstStyle/>
          <a:p>
            <a:endParaRPr lang="vi-VN"/>
          </a:p>
        </p:txBody>
      </p:sp>
      <p:sp>
        <p:nvSpPr>
          <p:cNvPr id="14" name="Text 12"/>
          <p:cNvSpPr/>
          <p:nvPr/>
        </p:nvSpPr>
        <p:spPr>
          <a:xfrm>
            <a:off x="496119" y="3054474"/>
            <a:ext cx="2288530" cy="151433"/>
          </a:xfrm>
          <a:prstGeom prst="rect">
            <a:avLst/>
          </a:prstGeom>
          <a:noFill/>
          <a:ln/>
        </p:spPr>
        <p:txBody>
          <a:bodyPr wrap="none" lIns="0" tIns="0" rIns="0" bIns="0" rtlCol="0" anchor="t"/>
          <a:lstStyle/>
          <a:p>
            <a:pPr marL="0" indent="0" algn="l">
              <a:lnSpc>
                <a:spcPct val="104000"/>
              </a:lnSpc>
              <a:buNone/>
            </a:pPr>
            <a:r>
              <a:rPr lang="en-US" sz="950" b="1" dirty="0">
                <a:solidFill>
                  <a:srgbClr val="000000"/>
                </a:solidFill>
                <a:latin typeface="Inter Bold" pitchFamily="34" charset="0"/>
                <a:ea typeface="Inter Bold" pitchFamily="34" charset="-122"/>
                <a:cs typeface="Inter Bold" pitchFamily="34" charset="-120"/>
              </a:rPr>
              <a:t>Response — HTTP 201 Created</a:t>
            </a:r>
            <a:endParaRPr lang="en-US" sz="950" dirty="0"/>
          </a:p>
        </p:txBody>
      </p:sp>
      <p:sp>
        <p:nvSpPr>
          <p:cNvPr id="15" name="Shape 13"/>
          <p:cNvSpPr/>
          <p:nvPr/>
        </p:nvSpPr>
        <p:spPr>
          <a:xfrm>
            <a:off x="496119" y="3319463"/>
            <a:ext cx="8151763" cy="1436117"/>
          </a:xfrm>
          <a:prstGeom prst="roundRect">
            <a:avLst>
              <a:gd name="adj" fmla="val 2834"/>
            </a:avLst>
          </a:prstGeom>
          <a:solidFill>
            <a:srgbClr val="F2F2F2"/>
          </a:solidFill>
          <a:ln/>
        </p:spPr>
        <p:txBody>
          <a:bodyPr/>
          <a:lstStyle/>
          <a:p>
            <a:endParaRPr lang="vi-VN"/>
          </a:p>
        </p:txBody>
      </p:sp>
      <p:sp>
        <p:nvSpPr>
          <p:cNvPr id="16" name="Shape 14"/>
          <p:cNvSpPr/>
          <p:nvPr/>
        </p:nvSpPr>
        <p:spPr>
          <a:xfrm>
            <a:off x="491282" y="3319463"/>
            <a:ext cx="8161437" cy="1436117"/>
          </a:xfrm>
          <a:prstGeom prst="roundRect">
            <a:avLst>
              <a:gd name="adj" fmla="val 1012"/>
            </a:avLst>
          </a:prstGeom>
          <a:solidFill>
            <a:srgbClr val="F2F2F2"/>
          </a:solidFill>
          <a:ln/>
        </p:spPr>
        <p:txBody>
          <a:bodyPr/>
          <a:lstStyle/>
          <a:p>
            <a:endParaRPr lang="vi-VN"/>
          </a:p>
        </p:txBody>
      </p:sp>
      <p:sp>
        <p:nvSpPr>
          <p:cNvPr id="17" name="Text 15"/>
          <p:cNvSpPr/>
          <p:nvPr/>
        </p:nvSpPr>
        <p:spPr>
          <a:xfrm>
            <a:off x="612353" y="3416350"/>
            <a:ext cx="7919293" cy="1242343"/>
          </a:xfrm>
          <a:prstGeom prst="rect">
            <a:avLst/>
          </a:prstGeom>
          <a:noFill/>
          <a:ln/>
        </p:spPr>
        <p:txBody>
          <a:bodyPr wrap="square" lIns="0" tIns="0" rIns="0" bIns="0" rtlCol="0" anchor="t">
            <a:normAutofit/>
          </a:bodyPr>
          <a:lstStyle/>
          <a:p>
            <a:pPr marL="0" indent="0" algn="l">
              <a:lnSpc>
                <a:spcPct val="119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a:t>
            </a:r>
            <a:endParaRPr lang="en-US" sz="750" dirty="0"/>
          </a:p>
          <a:p>
            <a:pPr marL="0" indent="0" algn="l">
              <a:lnSpc>
                <a:spcPct val="119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"id": 1,</a:t>
            </a:r>
            <a:endParaRPr lang="en-US" sz="750" dirty="0"/>
          </a:p>
          <a:p>
            <a:pPr marL="0" indent="0" algn="l">
              <a:lnSpc>
                <a:spcPct val="119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"title": "Thiết kế Database",</a:t>
            </a:r>
            <a:endParaRPr lang="en-US" sz="750" dirty="0"/>
          </a:p>
          <a:p>
            <a:pPr marL="0" indent="0" algn="l">
              <a:lnSpc>
                <a:spcPct val="119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"description": "Thiết kế schema cho hệ thống quản lý công việc",</a:t>
            </a:r>
            <a:endParaRPr lang="en-US" sz="750" dirty="0"/>
          </a:p>
          <a:p>
            <a:pPr marL="0" indent="0" algn="l">
              <a:lnSpc>
                <a:spcPct val="119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"assignee": "Nam",</a:t>
            </a:r>
            <a:endParaRPr lang="en-US" sz="750" dirty="0"/>
          </a:p>
          <a:p>
            <a:pPr marL="0" indent="0" algn="l">
              <a:lnSpc>
                <a:spcPct val="119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"priority": 1,</a:t>
            </a:r>
            <a:endParaRPr lang="en-US" sz="750" dirty="0"/>
          </a:p>
          <a:p>
            <a:pPr marL="0" indent="0" algn="l">
              <a:lnSpc>
                <a:spcPct val="119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"status": "todo",</a:t>
            </a:r>
            <a:endParaRPr lang="en-US" sz="750" dirty="0"/>
          </a:p>
          <a:p>
            <a:pPr marL="0" indent="0" algn="l">
              <a:lnSpc>
                <a:spcPct val="119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"created_at": "2025-01-15T10:30:00"</a:t>
            </a:r>
            <a:endParaRPr lang="en-US" sz="750" dirty="0"/>
          </a:p>
          <a:p>
            <a:pPr marL="0" indent="0" algn="l">
              <a:lnSpc>
                <a:spcPct val="119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96119" y="1215554"/>
            <a:ext cx="2190304" cy="233214"/>
          </a:xfrm>
          <a:prstGeom prst="roundRect">
            <a:avLst>
              <a:gd name="adj" fmla="val 17872"/>
            </a:avLst>
          </a:prstGeom>
          <a:solidFill>
            <a:srgbClr val="DADBF1"/>
          </a:solidFill>
          <a:ln/>
        </p:spPr>
        <p:txBody>
          <a:bodyPr/>
          <a:lstStyle/>
          <a:p>
            <a:endParaRPr lang="vi-VN"/>
          </a:p>
        </p:txBody>
      </p:sp>
      <p:sp>
        <p:nvSpPr>
          <p:cNvPr id="3" name="Text 1"/>
          <p:cNvSpPr/>
          <p:nvPr/>
        </p:nvSpPr>
        <p:spPr>
          <a:xfrm>
            <a:off x="570533" y="1252761"/>
            <a:ext cx="2498675" cy="158800"/>
          </a:xfrm>
          <a:prstGeom prst="rect">
            <a:avLst/>
          </a:prstGeom>
          <a:noFill/>
          <a:ln/>
        </p:spPr>
        <p:txBody>
          <a:bodyPr wrap="none" lIns="0" tIns="0" rIns="0" bIns="0" rtlCol="0" anchor="t"/>
          <a:lstStyle/>
          <a:p>
            <a:pPr marL="0" indent="0" algn="l">
              <a:lnSpc>
                <a:spcPct val="133000"/>
              </a:lnSpc>
              <a:buNone/>
            </a:pPr>
            <a:r>
              <a:rPr lang="en-US" sz="750" dirty="0">
                <a:solidFill>
                  <a:srgbClr val="272525"/>
                </a:solidFill>
                <a:latin typeface="Inter" pitchFamily="34" charset="0"/>
                <a:ea typeface="Inter" pitchFamily="34" charset="-122"/>
                <a:cs typeface="Inter" pitchFamily="34" charset="-120"/>
              </a:rPr>
              <a:t>CHƯƠNG 4 · API: READ / UPDATE / DELETE</a:t>
            </a:r>
            <a:endParaRPr lang="en-US" sz="750" dirty="0"/>
          </a:p>
        </p:txBody>
      </p:sp>
      <p:sp>
        <p:nvSpPr>
          <p:cNvPr id="4" name="Text 2"/>
          <p:cNvSpPr/>
          <p:nvPr/>
        </p:nvSpPr>
        <p:spPr>
          <a:xfrm>
            <a:off x="496119" y="1498327"/>
            <a:ext cx="5104581" cy="387548"/>
          </a:xfrm>
          <a:prstGeom prst="rect">
            <a:avLst/>
          </a:prstGeom>
          <a:noFill/>
          <a:ln/>
        </p:spPr>
        <p:txBody>
          <a:bodyPr wrap="none" lIns="0" tIns="0" rIns="0" bIns="0" rtlCol="0" anchor="t"/>
          <a:lstStyle/>
          <a:p>
            <a:pPr marL="0" indent="0" algn="l">
              <a:lnSpc>
                <a:spcPct val="104000"/>
              </a:lnSpc>
              <a:buNone/>
            </a:pPr>
            <a:r>
              <a:rPr lang="en-US" sz="2400" b="1" dirty="0">
                <a:solidFill>
                  <a:srgbClr val="000000"/>
                </a:solidFill>
                <a:latin typeface="Inter Bold" pitchFamily="34" charset="0"/>
                <a:ea typeface="Inter Bold" pitchFamily="34" charset="-122"/>
                <a:cs typeface="Inter Bold" pitchFamily="34" charset="-120"/>
              </a:rPr>
              <a:t>GET · PUT · DELETE /tasks/{id}</a:t>
            </a:r>
            <a:endParaRPr lang="en-US" sz="2400" dirty="0"/>
          </a:p>
        </p:txBody>
      </p:sp>
      <p:sp>
        <p:nvSpPr>
          <p:cNvPr id="5" name="Text 3"/>
          <p:cNvSpPr/>
          <p:nvPr/>
        </p:nvSpPr>
        <p:spPr>
          <a:xfrm>
            <a:off x="496119" y="2071911"/>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72525"/>
                </a:solidFill>
                <a:latin typeface="Inter" pitchFamily="34" charset="0"/>
                <a:ea typeface="Inter" pitchFamily="34" charset="-122"/>
                <a:cs typeface="Inter" pitchFamily="34" charset="-120"/>
              </a:rPr>
              <a:t>Ba endpoint này cùng thao tác trên một tài nguyên Task duy nhất, tạo thành bộ CRUD hoàn chỉnh. GET để đọc, PUT để cập nhật toàn bộ hoặc một phần, DELETE để gỡ bỏ — tất cả đều tham chiếu qua </a:t>
            </a:r>
            <a:r>
              <a:rPr lang="en-US" sz="950" dirty="0">
                <a:solidFill>
                  <a:srgbClr val="272525"/>
                </a:solidFill>
                <a:highlight>
                  <a:srgbClr val="F2F2F2"/>
                </a:highlight>
                <a:latin typeface="Consolas" pitchFamily="34" charset="0"/>
                <a:ea typeface="Consolas" pitchFamily="34" charset="-122"/>
                <a:cs typeface="Consolas" pitchFamily="34" charset="-120"/>
              </a:rPr>
              <a:t>{id}</a:t>
            </a:r>
            <a:r>
              <a:rPr lang="en-US" sz="950" dirty="0">
                <a:solidFill>
                  <a:srgbClr val="272525"/>
                </a:solidFill>
                <a:latin typeface="Inter" pitchFamily="34" charset="0"/>
                <a:ea typeface="Inter" pitchFamily="34" charset="-122"/>
                <a:cs typeface="Inter" pitchFamily="34" charset="-120"/>
              </a:rPr>
              <a:t> trong URL.</a:t>
            </a:r>
            <a:endParaRPr lang="en-US" sz="950" dirty="0"/>
          </a:p>
        </p:txBody>
      </p:sp>
      <p:sp>
        <p:nvSpPr>
          <p:cNvPr id="6" name="Shape 4"/>
          <p:cNvSpPr/>
          <p:nvPr/>
        </p:nvSpPr>
        <p:spPr>
          <a:xfrm>
            <a:off x="496119" y="2608362"/>
            <a:ext cx="2634555" cy="1319585"/>
          </a:xfrm>
          <a:prstGeom prst="roundRect">
            <a:avLst>
              <a:gd name="adj" fmla="val 3948"/>
            </a:avLst>
          </a:prstGeom>
          <a:solidFill>
            <a:srgbClr val="DADBF1"/>
          </a:solidFill>
          <a:ln w="4763">
            <a:solidFill>
              <a:srgbClr val="C0C1D7"/>
            </a:solidFill>
            <a:prstDash val="solid"/>
          </a:ln>
        </p:spPr>
        <p:txBody>
          <a:bodyPr/>
          <a:lstStyle/>
          <a:p>
            <a:endParaRPr lang="vi-VN"/>
          </a:p>
        </p:txBody>
      </p:sp>
      <p:sp>
        <p:nvSpPr>
          <p:cNvPr id="7" name="Text 5"/>
          <p:cNvSpPr/>
          <p:nvPr/>
        </p:nvSpPr>
        <p:spPr>
          <a:xfrm>
            <a:off x="624855" y="2737098"/>
            <a:ext cx="1550566" cy="193849"/>
          </a:xfrm>
          <a:prstGeom prst="rect">
            <a:avLst/>
          </a:prstGeom>
          <a:noFill/>
          <a:ln/>
        </p:spPr>
        <p:txBody>
          <a:bodyPr wrap="none" lIns="0" tIns="0" rIns="0" bIns="0" rtlCol="0" anchor="t"/>
          <a:lstStyle/>
          <a:p>
            <a:pPr marL="0" indent="0" algn="l">
              <a:lnSpc>
                <a:spcPct val="104000"/>
              </a:lnSpc>
              <a:buNone/>
            </a:pPr>
            <a:r>
              <a:rPr lang="en-US" sz="1200" b="1" dirty="0">
                <a:solidFill>
                  <a:srgbClr val="272525"/>
                </a:solidFill>
                <a:latin typeface="Inter Bold" pitchFamily="34" charset="0"/>
                <a:ea typeface="Inter Bold" pitchFamily="34" charset="-122"/>
                <a:cs typeface="Inter Bold" pitchFamily="34" charset="-120"/>
              </a:rPr>
              <a:t>GET /tasks/{id}</a:t>
            </a:r>
            <a:endParaRPr lang="en-US" sz="1200" dirty="0"/>
          </a:p>
        </p:txBody>
      </p:sp>
      <p:sp>
        <p:nvSpPr>
          <p:cNvPr id="8" name="Text 6"/>
          <p:cNvSpPr/>
          <p:nvPr/>
        </p:nvSpPr>
        <p:spPr>
          <a:xfrm>
            <a:off x="624855" y="3005361"/>
            <a:ext cx="2377083"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72525"/>
                </a:solidFill>
                <a:latin typeface="Inter" pitchFamily="34" charset="0"/>
                <a:ea typeface="Inter" pitchFamily="34" charset="-122"/>
                <a:cs typeface="Inter" pitchFamily="34" charset="-120"/>
              </a:rPr>
              <a:t>Lấy chi tiết công việc theo ID. Trả về Public Response (không bao gồm </a:t>
            </a:r>
            <a:r>
              <a:rPr lang="en-US" sz="950" dirty="0">
                <a:solidFill>
                  <a:srgbClr val="272525"/>
                </a:solidFill>
                <a:highlight>
                  <a:srgbClr val="F2F2F2"/>
                </a:highlight>
                <a:latin typeface="Consolas" pitchFamily="34" charset="0"/>
                <a:ea typeface="Consolas" pitchFamily="34" charset="-122"/>
                <a:cs typeface="Consolas" pitchFamily="34" charset="-120"/>
              </a:rPr>
              <a:t>internal_notes</a:t>
            </a:r>
            <a:r>
              <a:rPr lang="en-US" sz="950" dirty="0">
                <a:solidFill>
                  <a:srgbClr val="272525"/>
                </a:solidFill>
                <a:latin typeface="Inter" pitchFamily="34" charset="0"/>
                <a:ea typeface="Inter" pitchFamily="34" charset="-122"/>
                <a:cs typeface="Inter" pitchFamily="34" charset="-120"/>
              </a:rPr>
              <a:t>). Nếu task không tồn tại → 404 Not Found.</a:t>
            </a:r>
            <a:endParaRPr lang="en-US" sz="950" dirty="0"/>
          </a:p>
        </p:txBody>
      </p:sp>
      <p:sp>
        <p:nvSpPr>
          <p:cNvPr id="9" name="Shape 7"/>
          <p:cNvSpPr/>
          <p:nvPr/>
        </p:nvSpPr>
        <p:spPr>
          <a:xfrm>
            <a:off x="3254648" y="2608362"/>
            <a:ext cx="2634630" cy="1319585"/>
          </a:xfrm>
          <a:prstGeom prst="roundRect">
            <a:avLst>
              <a:gd name="adj" fmla="val 3948"/>
            </a:avLst>
          </a:prstGeom>
          <a:solidFill>
            <a:srgbClr val="DADBF1"/>
          </a:solidFill>
          <a:ln w="4763">
            <a:solidFill>
              <a:srgbClr val="C0C1D7"/>
            </a:solidFill>
            <a:prstDash val="solid"/>
          </a:ln>
        </p:spPr>
        <p:txBody>
          <a:bodyPr/>
          <a:lstStyle/>
          <a:p>
            <a:endParaRPr lang="vi-VN"/>
          </a:p>
        </p:txBody>
      </p:sp>
      <p:sp>
        <p:nvSpPr>
          <p:cNvPr id="10" name="Text 8"/>
          <p:cNvSpPr/>
          <p:nvPr/>
        </p:nvSpPr>
        <p:spPr>
          <a:xfrm>
            <a:off x="3383384" y="2737098"/>
            <a:ext cx="1550566" cy="193849"/>
          </a:xfrm>
          <a:prstGeom prst="rect">
            <a:avLst/>
          </a:prstGeom>
          <a:noFill/>
          <a:ln/>
        </p:spPr>
        <p:txBody>
          <a:bodyPr wrap="none" lIns="0" tIns="0" rIns="0" bIns="0" rtlCol="0" anchor="t"/>
          <a:lstStyle/>
          <a:p>
            <a:pPr marL="0" indent="0" algn="l">
              <a:lnSpc>
                <a:spcPct val="104000"/>
              </a:lnSpc>
              <a:buNone/>
            </a:pPr>
            <a:r>
              <a:rPr lang="en-US" sz="1200" b="1" dirty="0">
                <a:solidFill>
                  <a:srgbClr val="272525"/>
                </a:solidFill>
                <a:latin typeface="Inter Bold" pitchFamily="34" charset="0"/>
                <a:ea typeface="Inter Bold" pitchFamily="34" charset="-122"/>
                <a:cs typeface="Inter Bold" pitchFamily="34" charset="-120"/>
              </a:rPr>
              <a:t>PUT /tasks/{id}</a:t>
            </a:r>
            <a:endParaRPr lang="en-US" sz="1200" dirty="0"/>
          </a:p>
        </p:txBody>
      </p:sp>
      <p:sp>
        <p:nvSpPr>
          <p:cNvPr id="11" name="Text 9"/>
          <p:cNvSpPr/>
          <p:nvPr/>
        </p:nvSpPr>
        <p:spPr>
          <a:xfrm>
            <a:off x="3383384" y="3005361"/>
            <a:ext cx="2377157"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72525"/>
                </a:solidFill>
                <a:latin typeface="Inter" pitchFamily="34" charset="0"/>
                <a:ea typeface="Inter" pitchFamily="34" charset="-122"/>
                <a:cs typeface="Inter" pitchFamily="34" charset="-120"/>
              </a:rPr>
              <a:t>Cập nhật title, description, assignee, priority, status. Trường </a:t>
            </a:r>
            <a:r>
              <a:rPr lang="en-US" sz="950" dirty="0">
                <a:solidFill>
                  <a:srgbClr val="272525"/>
                </a:solidFill>
                <a:highlight>
                  <a:srgbClr val="F2F2F2"/>
                </a:highlight>
                <a:latin typeface="Consolas" pitchFamily="34" charset="0"/>
                <a:ea typeface="Consolas" pitchFamily="34" charset="-122"/>
                <a:cs typeface="Consolas" pitchFamily="34" charset="-120"/>
              </a:rPr>
              <a:t>id</a:t>
            </a:r>
            <a:r>
              <a:rPr lang="en-US" sz="950" dirty="0">
                <a:solidFill>
                  <a:srgbClr val="272525"/>
                </a:solidFill>
                <a:latin typeface="Inter" pitchFamily="34" charset="0"/>
                <a:ea typeface="Inter" pitchFamily="34" charset="-122"/>
                <a:cs typeface="Inter" pitchFamily="34" charset="-120"/>
              </a:rPr>
              <a:t> và </a:t>
            </a:r>
            <a:r>
              <a:rPr lang="en-US" sz="950" dirty="0">
                <a:solidFill>
                  <a:srgbClr val="272525"/>
                </a:solidFill>
                <a:highlight>
                  <a:srgbClr val="F2F2F2"/>
                </a:highlight>
                <a:latin typeface="Consolas" pitchFamily="34" charset="0"/>
                <a:ea typeface="Consolas" pitchFamily="34" charset="-122"/>
                <a:cs typeface="Consolas" pitchFamily="34" charset="-120"/>
              </a:rPr>
              <a:t>created_at</a:t>
            </a:r>
            <a:r>
              <a:rPr lang="en-US" sz="950" dirty="0">
                <a:solidFill>
                  <a:srgbClr val="272525"/>
                </a:solidFill>
                <a:latin typeface="Inter" pitchFamily="34" charset="0"/>
                <a:ea typeface="Inter" pitchFamily="34" charset="-122"/>
                <a:cs typeface="Inter" pitchFamily="34" charset="-120"/>
              </a:rPr>
              <a:t> được giữ nguyên không thay đổi.</a:t>
            </a:r>
            <a:endParaRPr lang="en-US" sz="950" dirty="0"/>
          </a:p>
        </p:txBody>
      </p:sp>
      <p:sp>
        <p:nvSpPr>
          <p:cNvPr id="12" name="Shape 10"/>
          <p:cNvSpPr/>
          <p:nvPr/>
        </p:nvSpPr>
        <p:spPr>
          <a:xfrm>
            <a:off x="6013252" y="2608362"/>
            <a:ext cx="2634555" cy="1319585"/>
          </a:xfrm>
          <a:prstGeom prst="roundRect">
            <a:avLst>
              <a:gd name="adj" fmla="val 3948"/>
            </a:avLst>
          </a:prstGeom>
          <a:solidFill>
            <a:srgbClr val="DADBF1"/>
          </a:solidFill>
          <a:ln w="4763">
            <a:solidFill>
              <a:srgbClr val="C0C1D7"/>
            </a:solidFill>
            <a:prstDash val="solid"/>
          </a:ln>
        </p:spPr>
        <p:txBody>
          <a:bodyPr/>
          <a:lstStyle/>
          <a:p>
            <a:endParaRPr lang="vi-VN"/>
          </a:p>
        </p:txBody>
      </p:sp>
      <p:sp>
        <p:nvSpPr>
          <p:cNvPr id="13" name="Text 11"/>
          <p:cNvSpPr/>
          <p:nvPr/>
        </p:nvSpPr>
        <p:spPr>
          <a:xfrm>
            <a:off x="6141988" y="2737098"/>
            <a:ext cx="1550566" cy="193849"/>
          </a:xfrm>
          <a:prstGeom prst="rect">
            <a:avLst/>
          </a:prstGeom>
          <a:noFill/>
          <a:ln/>
        </p:spPr>
        <p:txBody>
          <a:bodyPr wrap="none" lIns="0" tIns="0" rIns="0" bIns="0" rtlCol="0" anchor="t"/>
          <a:lstStyle/>
          <a:p>
            <a:pPr marL="0" indent="0" algn="l">
              <a:lnSpc>
                <a:spcPct val="104000"/>
              </a:lnSpc>
              <a:buNone/>
            </a:pPr>
            <a:r>
              <a:rPr lang="en-US" sz="1200" b="1" dirty="0">
                <a:solidFill>
                  <a:srgbClr val="272525"/>
                </a:solidFill>
                <a:latin typeface="Inter Bold" pitchFamily="34" charset="0"/>
                <a:ea typeface="Inter Bold" pitchFamily="34" charset="-122"/>
                <a:cs typeface="Inter Bold" pitchFamily="34" charset="-120"/>
              </a:rPr>
              <a:t>DELETE /tasks/{id}</a:t>
            </a:r>
            <a:endParaRPr lang="en-US" sz="1200" dirty="0"/>
          </a:p>
        </p:txBody>
      </p:sp>
      <p:sp>
        <p:nvSpPr>
          <p:cNvPr id="14" name="Text 12"/>
          <p:cNvSpPr/>
          <p:nvPr/>
        </p:nvSpPr>
        <p:spPr>
          <a:xfrm>
            <a:off x="6141988" y="3005361"/>
            <a:ext cx="237708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72525"/>
                </a:solidFill>
                <a:latin typeface="Inter" pitchFamily="34" charset="0"/>
                <a:ea typeface="Inter" pitchFamily="34" charset="-122"/>
                <a:cs typeface="Inter" pitchFamily="34" charset="-120"/>
              </a:rPr>
              <a:t>Xóa công việc khỏi hệ thống. Trả về </a:t>
            </a:r>
            <a:r>
              <a:rPr lang="en-US" sz="950" b="1" dirty="0">
                <a:solidFill>
                  <a:srgbClr val="272525"/>
                </a:solidFill>
                <a:latin typeface="Inter Bold" pitchFamily="34" charset="0"/>
                <a:ea typeface="Inter Bold" pitchFamily="34" charset="-122"/>
                <a:cs typeface="Inter Bold" pitchFamily="34" charset="-120"/>
              </a:rPr>
              <a:t>HTTP 204 No Content</a:t>
            </a:r>
            <a:r>
              <a:rPr lang="en-US" sz="950" dirty="0">
                <a:solidFill>
                  <a:srgbClr val="272525"/>
                </a:solidFill>
                <a:latin typeface="Inter" pitchFamily="34" charset="0"/>
                <a:ea typeface="Inter" pitchFamily="34" charset="-122"/>
                <a:cs typeface="Inter" pitchFamily="34" charset="-120"/>
              </a:rPr>
              <a:t> với body rỗng khi xóa thành công.</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96119" y="702469"/>
            <a:ext cx="1604590" cy="233214"/>
          </a:xfrm>
          <a:prstGeom prst="roundRect">
            <a:avLst>
              <a:gd name="adj" fmla="val 17872"/>
            </a:avLst>
          </a:prstGeom>
          <a:solidFill>
            <a:srgbClr val="DADBF1"/>
          </a:solidFill>
          <a:ln/>
        </p:spPr>
        <p:txBody>
          <a:bodyPr/>
          <a:lstStyle/>
          <a:p>
            <a:endParaRPr lang="vi-VN"/>
          </a:p>
        </p:txBody>
      </p:sp>
      <p:sp>
        <p:nvSpPr>
          <p:cNvPr id="3" name="Text 1"/>
          <p:cNvSpPr/>
          <p:nvPr/>
        </p:nvSpPr>
        <p:spPr>
          <a:xfrm>
            <a:off x="570533" y="739676"/>
            <a:ext cx="1912962" cy="158800"/>
          </a:xfrm>
          <a:prstGeom prst="rect">
            <a:avLst/>
          </a:prstGeom>
          <a:noFill/>
          <a:ln/>
        </p:spPr>
        <p:txBody>
          <a:bodyPr wrap="none" lIns="0" tIns="0" rIns="0" bIns="0" rtlCol="0" anchor="t"/>
          <a:lstStyle/>
          <a:p>
            <a:pPr marL="0" indent="0" algn="l">
              <a:lnSpc>
                <a:spcPct val="133000"/>
              </a:lnSpc>
              <a:buNone/>
            </a:pPr>
            <a:r>
              <a:rPr lang="en-US" sz="750" dirty="0">
                <a:solidFill>
                  <a:srgbClr val="272525"/>
                </a:solidFill>
                <a:latin typeface="Inter" pitchFamily="34" charset="0"/>
                <a:ea typeface="Inter" pitchFamily="34" charset="-122"/>
                <a:cs typeface="Inter" pitchFamily="34" charset="-120"/>
              </a:rPr>
              <a:t>CHƯƠNG 5 · SEARCH &amp; FILTER</a:t>
            </a:r>
            <a:endParaRPr lang="en-US" sz="750" dirty="0"/>
          </a:p>
        </p:txBody>
      </p:sp>
      <p:sp>
        <p:nvSpPr>
          <p:cNvPr id="4" name="Text 2"/>
          <p:cNvSpPr/>
          <p:nvPr/>
        </p:nvSpPr>
        <p:spPr>
          <a:xfrm>
            <a:off x="496119" y="985242"/>
            <a:ext cx="4877916" cy="387548"/>
          </a:xfrm>
          <a:prstGeom prst="rect">
            <a:avLst/>
          </a:prstGeom>
          <a:noFill/>
          <a:ln/>
        </p:spPr>
        <p:txBody>
          <a:bodyPr wrap="none" lIns="0" tIns="0" rIns="0" bIns="0" rtlCol="0" anchor="t"/>
          <a:lstStyle/>
          <a:p>
            <a:pPr marL="0" indent="0" algn="l">
              <a:lnSpc>
                <a:spcPct val="104000"/>
              </a:lnSpc>
              <a:buNone/>
            </a:pPr>
            <a:r>
              <a:rPr lang="en-US" sz="2400" b="1" dirty="0">
                <a:solidFill>
                  <a:srgbClr val="000000"/>
                </a:solidFill>
                <a:latin typeface="Inter Bold" pitchFamily="34" charset="0"/>
                <a:ea typeface="Inter Bold" pitchFamily="34" charset="-122"/>
                <a:cs typeface="Inter Bold" pitchFamily="34" charset="-120"/>
              </a:rPr>
              <a:t>API Tìm kiếm &amp; Lọc công việc</a:t>
            </a:r>
            <a:endParaRPr lang="en-US" sz="2400" dirty="0"/>
          </a:p>
        </p:txBody>
      </p:sp>
      <p:sp>
        <p:nvSpPr>
          <p:cNvPr id="5" name="Text 3"/>
          <p:cNvSpPr/>
          <p:nvPr/>
        </p:nvSpPr>
        <p:spPr>
          <a:xfrm>
            <a:off x="496119" y="1558826"/>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72525"/>
                </a:solidFill>
                <a:latin typeface="Inter" pitchFamily="34" charset="0"/>
                <a:ea typeface="Inter" pitchFamily="34" charset="-122"/>
                <a:cs typeface="Inter" pitchFamily="34" charset="-120"/>
              </a:rPr>
              <a:t>Endpoint </a:t>
            </a:r>
            <a:r>
              <a:rPr lang="en-US" sz="950" dirty="0">
                <a:solidFill>
                  <a:srgbClr val="272525"/>
                </a:solidFill>
                <a:highlight>
                  <a:srgbClr val="F2F2F2"/>
                </a:highlight>
                <a:latin typeface="Consolas" pitchFamily="34" charset="0"/>
                <a:ea typeface="Consolas" pitchFamily="34" charset="-122"/>
                <a:cs typeface="Consolas" pitchFamily="34" charset="-120"/>
              </a:rPr>
              <a:t>GET /tasks/search</a:t>
            </a:r>
            <a:r>
              <a:rPr lang="en-US" sz="950" dirty="0">
                <a:solidFill>
                  <a:srgbClr val="272525"/>
                </a:solidFill>
                <a:latin typeface="Inter" pitchFamily="34" charset="0"/>
                <a:ea typeface="Inter" pitchFamily="34" charset="-122"/>
                <a:cs typeface="Inter" pitchFamily="34" charset="-120"/>
              </a:rPr>
              <a:t> cung cấp khả năng truy vấn linh hoạt, cho phép kết hợp từ khóa và trạng thái trong cùng một request. Hệ thống áp dụng tìm kiếm </a:t>
            </a:r>
            <a:r>
              <a:rPr lang="en-US" sz="950" b="1" dirty="0">
                <a:solidFill>
                  <a:srgbClr val="272525"/>
                </a:solidFill>
                <a:latin typeface="Inter Bold" pitchFamily="34" charset="0"/>
                <a:ea typeface="Inter Bold" pitchFamily="34" charset="-122"/>
                <a:cs typeface="Inter Bold" pitchFamily="34" charset="-120"/>
              </a:rPr>
              <a:t>regex không phân biệt hoa thường</a:t>
            </a:r>
            <a:r>
              <a:rPr lang="en-US" sz="950" dirty="0">
                <a:solidFill>
                  <a:srgbClr val="272525"/>
                </a:solidFill>
                <a:latin typeface="Inter" pitchFamily="34" charset="0"/>
                <a:ea typeface="Inter" pitchFamily="34" charset="-122"/>
                <a:cs typeface="Inter" pitchFamily="34" charset="-120"/>
              </a:rPr>
              <a:t> trên trường </a:t>
            </a:r>
            <a:r>
              <a:rPr lang="en-US" sz="950" dirty="0">
                <a:solidFill>
                  <a:srgbClr val="272525"/>
                </a:solidFill>
                <a:highlight>
                  <a:srgbClr val="F2F2F2"/>
                </a:highlight>
                <a:latin typeface="Consolas" pitchFamily="34" charset="0"/>
                <a:ea typeface="Consolas" pitchFamily="34" charset="-122"/>
                <a:cs typeface="Consolas" pitchFamily="34" charset="-120"/>
              </a:rPr>
              <a:t>title</a:t>
            </a:r>
            <a:r>
              <a:rPr lang="en-US" sz="950" dirty="0">
                <a:solidFill>
                  <a:srgbClr val="272525"/>
                </a:solidFill>
                <a:latin typeface="Inter" pitchFamily="34" charset="0"/>
                <a:ea typeface="Inter" pitchFamily="34" charset="-122"/>
                <a:cs typeface="Inter" pitchFamily="34" charset="-120"/>
              </a:rPr>
              <a:t> và </a:t>
            </a:r>
            <a:r>
              <a:rPr lang="en-US" sz="950" dirty="0">
                <a:solidFill>
                  <a:srgbClr val="272525"/>
                </a:solidFill>
                <a:highlight>
                  <a:srgbClr val="F2F2F2"/>
                </a:highlight>
                <a:latin typeface="Consolas" pitchFamily="34" charset="0"/>
                <a:ea typeface="Consolas" pitchFamily="34" charset="-122"/>
                <a:cs typeface="Consolas" pitchFamily="34" charset="-120"/>
              </a:rPr>
              <a:t>assignee</a:t>
            </a:r>
            <a:r>
              <a:rPr lang="en-US" sz="950" dirty="0">
                <a:solidFill>
                  <a:srgbClr val="272525"/>
                </a:solidFill>
                <a:latin typeface="Inter" pitchFamily="34" charset="0"/>
                <a:ea typeface="Inter" pitchFamily="34" charset="-122"/>
                <a:cs typeface="Inter" pitchFamily="34" charset="-120"/>
              </a:rPr>
              <a:t>, trả về danh sách Task khớp điều kiện.</a:t>
            </a:r>
            <a:endParaRPr lang="en-US" sz="950" dirty="0"/>
          </a:p>
        </p:txBody>
      </p:sp>
      <p:sp>
        <p:nvSpPr>
          <p:cNvPr id="6" name="Shape 4"/>
          <p:cNvSpPr/>
          <p:nvPr/>
        </p:nvSpPr>
        <p:spPr>
          <a:xfrm>
            <a:off x="406822" y="2095277"/>
            <a:ext cx="3257699" cy="2345680"/>
          </a:xfrm>
          <a:prstGeom prst="roundRect">
            <a:avLst>
              <a:gd name="adj" fmla="val 3808"/>
            </a:avLst>
          </a:prstGeom>
          <a:solidFill>
            <a:srgbClr val="3B82F6"/>
          </a:solidFill>
          <a:ln/>
        </p:spPr>
        <p:txBody>
          <a:bodyPr/>
          <a:lstStyle/>
          <a:p>
            <a:endParaRPr lang="vi-VN"/>
          </a:p>
        </p:txBody>
      </p:sp>
      <p:sp>
        <p:nvSpPr>
          <p:cNvPr id="7" name="Text 5"/>
          <p:cNvSpPr/>
          <p:nvPr/>
        </p:nvSpPr>
        <p:spPr>
          <a:xfrm>
            <a:off x="530796" y="2219251"/>
            <a:ext cx="2007766"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Inter Bold" pitchFamily="34" charset="0"/>
                <a:ea typeface="Inter Bold" pitchFamily="34" charset="-122"/>
                <a:cs typeface="Inter Bold" pitchFamily="34" charset="-120"/>
              </a:rPr>
              <a:t>Tham số hỗ trợ</a:t>
            </a:r>
            <a:endParaRPr lang="en-US" sz="1200" dirty="0"/>
          </a:p>
        </p:txBody>
      </p:sp>
      <p:sp>
        <p:nvSpPr>
          <p:cNvPr id="8" name="Text 6"/>
          <p:cNvSpPr/>
          <p:nvPr/>
        </p:nvSpPr>
        <p:spPr>
          <a:xfrm>
            <a:off x="530796" y="2537073"/>
            <a:ext cx="3009751" cy="638770"/>
          </a:xfrm>
          <a:prstGeom prst="rect">
            <a:avLst/>
          </a:prstGeom>
          <a:noFill/>
          <a:ln/>
        </p:spPr>
        <p:txBody>
          <a:bodyPr wrap="square" lIns="0" tIns="0" rIns="0" bIns="0" rtlCol="0" anchor="t">
            <a:normAutofit/>
          </a:bodyPr>
          <a:lstStyle/>
          <a:p>
            <a:pPr marL="193040" indent="-193040" algn="l">
              <a:lnSpc>
                <a:spcPct val="133000"/>
              </a:lnSpc>
              <a:buSzPct val="100000"/>
              <a:buChar char="•"/>
            </a:pPr>
            <a:r>
              <a:rPr lang="en-US" sz="950" b="1" dirty="0">
                <a:solidFill>
                  <a:srgbClr val="000000"/>
                </a:solidFill>
                <a:latin typeface="Inter Bold" pitchFamily="34" charset="0"/>
                <a:ea typeface="Inter Bold" pitchFamily="34" charset="-122"/>
                <a:cs typeface="Inter Bold" pitchFamily="34" charset="-120"/>
              </a:rPr>
              <a:t>keyword</a:t>
            </a:r>
            <a:r>
              <a:rPr lang="en-US" sz="950" dirty="0">
                <a:solidFill>
                  <a:srgbClr val="000000"/>
                </a:solidFill>
                <a:latin typeface="Inter" pitchFamily="34" charset="0"/>
                <a:ea typeface="Inter" pitchFamily="34" charset="-122"/>
                <a:cs typeface="Inter" pitchFamily="34" charset="-120"/>
              </a:rPr>
              <a:t> — Tìm theo title hoặc assignee</a:t>
            </a:r>
            <a:endParaRPr lang="en-US" sz="950" dirty="0"/>
          </a:p>
          <a:p>
            <a:pPr marL="193040" indent="-193040" algn="l">
              <a:lnSpc>
                <a:spcPct val="133000"/>
              </a:lnSpc>
              <a:buSzPct val="100000"/>
              <a:buChar char="•"/>
            </a:pPr>
            <a:r>
              <a:rPr lang="en-US" sz="950" b="1" dirty="0">
                <a:solidFill>
                  <a:srgbClr val="000000"/>
                </a:solidFill>
                <a:latin typeface="Inter Bold" pitchFamily="34" charset="0"/>
                <a:ea typeface="Inter Bold" pitchFamily="34" charset="-122"/>
                <a:cs typeface="Inter Bold" pitchFamily="34" charset="-120"/>
              </a:rPr>
              <a:t>status</a:t>
            </a:r>
            <a:r>
              <a:rPr lang="en-US" sz="950" dirty="0">
                <a:solidFill>
                  <a:srgbClr val="000000"/>
                </a:solidFill>
                <a:latin typeface="Inter" pitchFamily="34" charset="0"/>
                <a:ea typeface="Inter" pitchFamily="34" charset="-122"/>
                <a:cs typeface="Inter" pitchFamily="34" charset="-120"/>
              </a:rPr>
              <a:t> — Lọc theo trạng thái (todo, in_progress, done)</a:t>
            </a:r>
            <a:endParaRPr lang="en-US" sz="950" dirty="0"/>
          </a:p>
        </p:txBody>
      </p:sp>
      <p:sp>
        <p:nvSpPr>
          <p:cNvPr id="9" name="Text 7"/>
          <p:cNvSpPr/>
          <p:nvPr/>
        </p:nvSpPr>
        <p:spPr>
          <a:xfrm>
            <a:off x="530796" y="3287464"/>
            <a:ext cx="3466951" cy="198462"/>
          </a:xfrm>
          <a:prstGeom prst="rect">
            <a:avLst/>
          </a:prstGeom>
          <a:noFill/>
          <a:ln/>
        </p:spPr>
        <p:txBody>
          <a:bodyPr wrap="none" lIns="0" tIns="0" rIns="0" bIns="0" rtlCol="0" anchor="t"/>
          <a:lstStyle/>
          <a:p>
            <a:pPr marL="0" indent="0" algn="l">
              <a:lnSpc>
                <a:spcPct val="133000"/>
              </a:lnSpc>
              <a:buNone/>
            </a:pPr>
            <a:r>
              <a:rPr lang="en-US" sz="950" b="1" dirty="0">
                <a:solidFill>
                  <a:srgbClr val="000000"/>
                </a:solidFill>
                <a:latin typeface="Inter Bold" pitchFamily="34" charset="0"/>
                <a:ea typeface="Inter Bold" pitchFamily="34" charset="-122"/>
                <a:cs typeface="Inter Bold" pitchFamily="34" charset="-120"/>
              </a:rPr>
              <a:t>Kỹ thuật tìm:</a:t>
            </a:r>
            <a:endParaRPr lang="en-US" sz="950" dirty="0"/>
          </a:p>
        </p:txBody>
      </p:sp>
      <p:sp>
        <p:nvSpPr>
          <p:cNvPr id="10" name="Text 8"/>
          <p:cNvSpPr/>
          <p:nvPr/>
        </p:nvSpPr>
        <p:spPr>
          <a:xfrm>
            <a:off x="530796" y="3597548"/>
            <a:ext cx="3009751" cy="682154"/>
          </a:xfrm>
          <a:prstGeom prst="rect">
            <a:avLst/>
          </a:prstGeom>
          <a:noFill/>
          <a:ln/>
        </p:spPr>
        <p:txBody>
          <a:bodyPr wrap="square" lIns="0" tIns="0" rIns="0" bIns="0" rtlCol="0" anchor="t">
            <a:normAutofit/>
          </a:bodyPr>
          <a:lstStyle/>
          <a:p>
            <a:pPr marL="193040" indent="-193040" algn="l">
              <a:lnSpc>
                <a:spcPct val="133000"/>
              </a:lnSpc>
              <a:buSzPct val="100000"/>
              <a:buChar char="•"/>
            </a:pPr>
            <a:r>
              <a:rPr lang="en-US" sz="950" dirty="0">
                <a:solidFill>
                  <a:srgbClr val="000000"/>
                </a:solidFill>
                <a:latin typeface="Inter" pitchFamily="34" charset="0"/>
                <a:ea typeface="Inter" pitchFamily="34" charset="-122"/>
                <a:cs typeface="Inter" pitchFamily="34" charset="-120"/>
              </a:rPr>
              <a:t>Regex match</a:t>
            </a:r>
            <a:endParaRPr lang="en-US" sz="950" dirty="0"/>
          </a:p>
          <a:p>
            <a:pPr marL="193040" indent="-193040" algn="l">
              <a:lnSpc>
                <a:spcPct val="133000"/>
              </a:lnSpc>
              <a:buSzPct val="100000"/>
              <a:buChar char="•"/>
            </a:pPr>
            <a:r>
              <a:rPr lang="en-US" sz="950" dirty="0">
                <a:solidFill>
                  <a:srgbClr val="000000"/>
                </a:solidFill>
                <a:latin typeface="Inter" pitchFamily="34" charset="0"/>
                <a:ea typeface="Inter" pitchFamily="34" charset="-122"/>
                <a:cs typeface="Inter" pitchFamily="34" charset="-120"/>
              </a:rPr>
              <a:t>Không phân biệt hoa thường</a:t>
            </a:r>
            <a:endParaRPr lang="en-US" sz="950" dirty="0"/>
          </a:p>
          <a:p>
            <a:pPr marL="193040" indent="-193040" algn="l">
              <a:lnSpc>
                <a:spcPct val="133000"/>
              </a:lnSpc>
              <a:buSzPct val="100000"/>
              <a:buChar char="•"/>
            </a:pPr>
            <a:r>
              <a:rPr lang="en-US" sz="950" dirty="0">
                <a:solidFill>
                  <a:srgbClr val="000000"/>
                </a:solidFill>
                <a:latin typeface="Inter" pitchFamily="34" charset="0"/>
                <a:ea typeface="Inter" pitchFamily="34" charset="-122"/>
                <a:cs typeface="Inter" pitchFamily="34" charset="-120"/>
              </a:rPr>
              <a:t>Kết hợp nhiều filter cùng lúc</a:t>
            </a:r>
            <a:endParaRPr lang="en-US" sz="950" dirty="0"/>
          </a:p>
        </p:txBody>
      </p:sp>
      <p:sp>
        <p:nvSpPr>
          <p:cNvPr id="11" name="Text 9"/>
          <p:cNvSpPr/>
          <p:nvPr/>
        </p:nvSpPr>
        <p:spPr>
          <a:xfrm>
            <a:off x="3882554" y="2219251"/>
            <a:ext cx="2007766"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Inter Bold" pitchFamily="34" charset="0"/>
                <a:ea typeface="Inter Bold" pitchFamily="34" charset="-122"/>
                <a:cs typeface="Inter Bold" pitchFamily="34" charset="-120"/>
              </a:rPr>
              <a:t>Ví dụ truy vấn</a:t>
            </a:r>
            <a:endParaRPr lang="en-US" sz="1200" dirty="0"/>
          </a:p>
        </p:txBody>
      </p:sp>
      <p:sp>
        <p:nvSpPr>
          <p:cNvPr id="12" name="Shape 10"/>
          <p:cNvSpPr/>
          <p:nvPr/>
        </p:nvSpPr>
        <p:spPr>
          <a:xfrm>
            <a:off x="3882554" y="2552626"/>
            <a:ext cx="4770016" cy="1240259"/>
          </a:xfrm>
          <a:prstGeom prst="roundRect">
            <a:avLst>
              <a:gd name="adj" fmla="val 4201"/>
            </a:avLst>
          </a:prstGeom>
          <a:solidFill>
            <a:srgbClr val="F2F2F2"/>
          </a:solidFill>
          <a:ln/>
        </p:spPr>
        <p:txBody>
          <a:bodyPr/>
          <a:lstStyle/>
          <a:p>
            <a:endParaRPr lang="vi-VN"/>
          </a:p>
        </p:txBody>
      </p:sp>
      <p:sp>
        <p:nvSpPr>
          <p:cNvPr id="13" name="Shape 11"/>
          <p:cNvSpPr/>
          <p:nvPr/>
        </p:nvSpPr>
        <p:spPr>
          <a:xfrm>
            <a:off x="3876377" y="2552626"/>
            <a:ext cx="4782369" cy="1240259"/>
          </a:xfrm>
          <a:prstGeom prst="roundRect">
            <a:avLst>
              <a:gd name="adj" fmla="val 1500"/>
            </a:avLst>
          </a:prstGeom>
          <a:solidFill>
            <a:srgbClr val="F2F2F2"/>
          </a:solidFill>
          <a:ln/>
        </p:spPr>
        <p:txBody>
          <a:bodyPr/>
          <a:lstStyle/>
          <a:p>
            <a:endParaRPr lang="vi-VN"/>
          </a:p>
        </p:txBody>
      </p:sp>
      <p:sp>
        <p:nvSpPr>
          <p:cNvPr id="14" name="Text 12"/>
          <p:cNvSpPr/>
          <p:nvPr/>
        </p:nvSpPr>
        <p:spPr>
          <a:xfrm>
            <a:off x="4031382" y="2676599"/>
            <a:ext cx="4472360"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GET /tasks/search?keyword=database</a:t>
            </a:r>
            <a:endParaRPr lang="en-US" sz="950" dirty="0"/>
          </a:p>
          <a:p>
            <a:pPr marL="0" indent="0" algn="l">
              <a:lnSpc>
                <a:spcPct val="133000"/>
              </a:lnSpc>
              <a:buNone/>
            </a:pPr>
            <a:endParaRPr lang="en-US" sz="950" dirty="0"/>
          </a:p>
          <a:p>
            <a:pPr marL="0" indent="0" algn="l">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GET /tasks/search?status=todo</a:t>
            </a:r>
            <a:endParaRPr lang="en-US" sz="950" dirty="0"/>
          </a:p>
          <a:p>
            <a:pPr marL="0" indent="0" algn="l">
              <a:lnSpc>
                <a:spcPct val="133000"/>
              </a:lnSpc>
              <a:buNone/>
            </a:pPr>
            <a:endParaRPr lang="en-US" sz="950" dirty="0"/>
          </a:p>
          <a:p>
            <a:pPr marL="0" indent="0" algn="l">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GET /tasks/search?keyword=api&amp;status=done</a:t>
            </a:r>
            <a:endParaRPr lang="en-US" sz="950" dirty="0"/>
          </a:p>
        </p:txBody>
      </p:sp>
      <p:sp>
        <p:nvSpPr>
          <p:cNvPr id="15" name="Text 13"/>
          <p:cNvSpPr/>
          <p:nvPr/>
        </p:nvSpPr>
        <p:spPr>
          <a:xfrm>
            <a:off x="3882554" y="3932411"/>
            <a:ext cx="4770016"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72525"/>
                </a:solidFill>
                <a:latin typeface="Inter" pitchFamily="34" charset="0"/>
                <a:ea typeface="Inter" pitchFamily="34" charset="-122"/>
                <a:cs typeface="Inter" pitchFamily="34" charset="-120"/>
              </a:rPr>
              <a:t>Ví dụ cuối cùng sẽ lọc ra tất cả Task chứa từ "api" trong tiêu đề hoặc assignee VÀ có trạng thái </a:t>
            </a:r>
            <a:r>
              <a:rPr lang="en-US" sz="950" dirty="0">
                <a:solidFill>
                  <a:srgbClr val="272525"/>
                </a:solidFill>
                <a:highlight>
                  <a:srgbClr val="F2F2F2"/>
                </a:highlight>
                <a:latin typeface="Consolas" pitchFamily="34" charset="0"/>
                <a:ea typeface="Consolas" pitchFamily="34" charset="-122"/>
                <a:cs typeface="Consolas" pitchFamily="34" charset="-120"/>
              </a:rPr>
              <a:t>done</a:t>
            </a:r>
            <a:r>
              <a:rPr lang="en-US" sz="950" dirty="0">
                <a:solidFill>
                  <a:srgbClr val="272525"/>
                </a:solidFill>
                <a:latin typeface="Inter" pitchFamily="34" charset="0"/>
                <a:ea typeface="Inter" pitchFamily="34" charset="-122"/>
                <a:cs typeface="Inter" pitchFamily="34" charset="-120"/>
              </a:rPr>
              <a: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96119" y="840135"/>
            <a:ext cx="2343448" cy="233214"/>
          </a:xfrm>
          <a:prstGeom prst="roundRect">
            <a:avLst>
              <a:gd name="adj" fmla="val 17872"/>
            </a:avLst>
          </a:prstGeom>
          <a:solidFill>
            <a:srgbClr val="DADBF1"/>
          </a:solidFill>
          <a:ln/>
        </p:spPr>
        <p:txBody>
          <a:bodyPr/>
          <a:lstStyle/>
          <a:p>
            <a:endParaRPr lang="vi-VN"/>
          </a:p>
        </p:txBody>
      </p:sp>
      <p:sp>
        <p:nvSpPr>
          <p:cNvPr id="3" name="Text 1"/>
          <p:cNvSpPr/>
          <p:nvPr/>
        </p:nvSpPr>
        <p:spPr>
          <a:xfrm>
            <a:off x="570533" y="877342"/>
            <a:ext cx="2651820" cy="158800"/>
          </a:xfrm>
          <a:prstGeom prst="rect">
            <a:avLst/>
          </a:prstGeom>
          <a:noFill/>
          <a:ln/>
        </p:spPr>
        <p:txBody>
          <a:bodyPr wrap="none" lIns="0" tIns="0" rIns="0" bIns="0" rtlCol="0" anchor="t"/>
          <a:lstStyle/>
          <a:p>
            <a:pPr marL="0" indent="0" algn="l">
              <a:lnSpc>
                <a:spcPct val="133000"/>
              </a:lnSpc>
              <a:buNone/>
            </a:pPr>
            <a:r>
              <a:rPr lang="en-US" sz="750" dirty="0">
                <a:solidFill>
                  <a:srgbClr val="272525"/>
                </a:solidFill>
                <a:latin typeface="Inter" pitchFamily="34" charset="0"/>
                <a:ea typeface="Inter" pitchFamily="34" charset="-122"/>
                <a:cs typeface="Inter" pitchFamily="34" charset="-120"/>
              </a:rPr>
              <a:t>CHƯƠNG 6 · VALIDATION &amp; ERROR HANDLING</a:t>
            </a:r>
            <a:endParaRPr lang="en-US" sz="750" dirty="0"/>
          </a:p>
        </p:txBody>
      </p:sp>
      <p:sp>
        <p:nvSpPr>
          <p:cNvPr id="4" name="Text 2"/>
          <p:cNvSpPr/>
          <p:nvPr/>
        </p:nvSpPr>
        <p:spPr>
          <a:xfrm>
            <a:off x="496119" y="1122908"/>
            <a:ext cx="4512692" cy="387548"/>
          </a:xfrm>
          <a:prstGeom prst="rect">
            <a:avLst/>
          </a:prstGeom>
          <a:noFill/>
          <a:ln/>
        </p:spPr>
        <p:txBody>
          <a:bodyPr wrap="none" lIns="0" tIns="0" rIns="0" bIns="0" rtlCol="0" anchor="t"/>
          <a:lstStyle/>
          <a:p>
            <a:pPr marL="0" indent="0" algn="l">
              <a:lnSpc>
                <a:spcPct val="104000"/>
              </a:lnSpc>
              <a:buNone/>
            </a:pPr>
            <a:r>
              <a:rPr lang="en-US" sz="2400" b="1" dirty="0">
                <a:solidFill>
                  <a:srgbClr val="000000"/>
                </a:solidFill>
                <a:latin typeface="Inter Bold" pitchFamily="34" charset="0"/>
                <a:ea typeface="Inter Bold" pitchFamily="34" charset="-122"/>
                <a:cs typeface="Inter Bold" pitchFamily="34" charset="-120"/>
              </a:rPr>
              <a:t>Validation &amp; Error Handling</a:t>
            </a:r>
            <a:endParaRPr lang="en-US" sz="2400" dirty="0"/>
          </a:p>
        </p:txBody>
      </p:sp>
      <p:sp>
        <p:nvSpPr>
          <p:cNvPr id="5" name="Text 3"/>
          <p:cNvSpPr/>
          <p:nvPr/>
        </p:nvSpPr>
        <p:spPr>
          <a:xfrm>
            <a:off x="496119" y="1696492"/>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72525"/>
                </a:solidFill>
                <a:latin typeface="Inter" pitchFamily="34" charset="0"/>
                <a:ea typeface="Inter" pitchFamily="34" charset="-122"/>
                <a:cs typeface="Inter" pitchFamily="34" charset="-120"/>
              </a:rPr>
              <a:t>Hệ thống áp dụng </a:t>
            </a:r>
            <a:r>
              <a:rPr lang="en-US" sz="950" b="1" dirty="0">
                <a:solidFill>
                  <a:srgbClr val="272525"/>
                </a:solidFill>
                <a:latin typeface="Inter Bold" pitchFamily="34" charset="0"/>
                <a:ea typeface="Inter Bold" pitchFamily="34" charset="-122"/>
                <a:cs typeface="Inter Bold" pitchFamily="34" charset="-120"/>
              </a:rPr>
              <a:t>hai lớp kiểm tra</a:t>
            </a:r>
            <a:r>
              <a:rPr lang="en-US" sz="950" dirty="0">
                <a:solidFill>
                  <a:srgbClr val="272525"/>
                </a:solidFill>
                <a:latin typeface="Inter" pitchFamily="34" charset="0"/>
                <a:ea typeface="Inter" pitchFamily="34" charset="-122"/>
                <a:cs typeface="Inter" pitchFamily="34" charset="-120"/>
              </a:rPr>
              <a:t> độc lập để đảm bảo tính toàn vẹn dữ liệu — Pydantic Validation cho cấu trúc và kiểu dữ liệu, Business Validation cho quy tắc nghiệp vụ. Khi có lỗi, hệ thống trả về mã trạng thái phù hợp cùng message rõ ràng, giúp client dễ dàng xử lý.</a:t>
            </a:r>
            <a:endParaRPr lang="en-US" sz="9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2232943"/>
            <a:ext cx="4013895" cy="2070348"/>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0048" y="2337792"/>
            <a:ext cx="186035" cy="186035"/>
          </a:xfrm>
          <a:prstGeom prst="rect">
            <a:avLst/>
          </a:prstGeom>
        </p:spPr>
      </p:pic>
      <p:sp>
        <p:nvSpPr>
          <p:cNvPr id="8" name="Text 4"/>
          <p:cNvSpPr/>
          <p:nvPr/>
        </p:nvSpPr>
        <p:spPr>
          <a:xfrm>
            <a:off x="634380" y="2743274"/>
            <a:ext cx="1989013" cy="193849"/>
          </a:xfrm>
          <a:prstGeom prst="rect">
            <a:avLst/>
          </a:prstGeom>
          <a:noFill/>
          <a:ln/>
        </p:spPr>
        <p:txBody>
          <a:bodyPr wrap="none" lIns="0" tIns="0" rIns="0" bIns="0" rtlCol="0" anchor="t"/>
          <a:lstStyle/>
          <a:p>
            <a:pPr marL="0" indent="0" algn="l">
              <a:lnSpc>
                <a:spcPct val="104000"/>
              </a:lnSpc>
              <a:buNone/>
            </a:pPr>
            <a:r>
              <a:rPr lang="en-US" sz="1200" b="1" dirty="0">
                <a:solidFill>
                  <a:srgbClr val="272525"/>
                </a:solidFill>
                <a:latin typeface="Inter Bold" pitchFamily="34" charset="0"/>
                <a:ea typeface="Inter Bold" pitchFamily="34" charset="-122"/>
                <a:cs typeface="Inter Bold" pitchFamily="34" charset="-120"/>
              </a:rPr>
              <a:t>Pydantic Validation — 422</a:t>
            </a:r>
            <a:endParaRPr lang="en-US" sz="1200" dirty="0"/>
          </a:p>
        </p:txBody>
      </p:sp>
      <p:sp>
        <p:nvSpPr>
          <p:cNvPr id="9" name="Text 5"/>
          <p:cNvSpPr/>
          <p:nvPr/>
        </p:nvSpPr>
        <p:spPr>
          <a:xfrm>
            <a:off x="634380" y="3011537"/>
            <a:ext cx="3737372" cy="923999"/>
          </a:xfrm>
          <a:prstGeom prst="rect">
            <a:avLst/>
          </a:prstGeom>
          <a:noFill/>
          <a:ln/>
        </p:spPr>
        <p:txBody>
          <a:bodyPr wrap="square" lIns="0" tIns="0" rIns="0" bIns="0" rtlCol="0" anchor="t">
            <a:normAutofit/>
          </a:bodyPr>
          <a:lstStyle/>
          <a:p>
            <a:pPr marL="193040" indent="-193040" algn="l">
              <a:lnSpc>
                <a:spcPct val="133000"/>
              </a:lnSpc>
              <a:buSzPct val="100000"/>
              <a:buChar char="•"/>
            </a:pPr>
            <a:r>
              <a:rPr lang="en-US" sz="950" dirty="0">
                <a:solidFill>
                  <a:srgbClr val="272525"/>
                </a:solidFill>
                <a:latin typeface="Inter" pitchFamily="34" charset="0"/>
                <a:ea typeface="Inter" pitchFamily="34" charset="-122"/>
                <a:cs typeface="Inter" pitchFamily="34" charset="-120"/>
              </a:rPr>
              <a:t>Thiếu trường dữ liệu bắt buộc</a:t>
            </a:r>
            <a:endParaRPr lang="en-US" sz="950" dirty="0"/>
          </a:p>
          <a:p>
            <a:pPr marL="193040" indent="-193040" algn="l">
              <a:lnSpc>
                <a:spcPct val="133000"/>
              </a:lnSpc>
              <a:buSzPct val="100000"/>
              <a:buChar char="•"/>
            </a:pPr>
            <a:r>
              <a:rPr lang="en-US" sz="950" dirty="0">
                <a:solidFill>
                  <a:srgbClr val="272525"/>
                </a:solidFill>
                <a:latin typeface="Inter" pitchFamily="34" charset="0"/>
                <a:ea typeface="Inter" pitchFamily="34" charset="-122"/>
                <a:cs typeface="Inter" pitchFamily="34" charset="-120"/>
              </a:rPr>
              <a:t>Sai kiểu dữ liệu (string thay vì int)</a:t>
            </a:r>
            <a:endParaRPr lang="en-US" sz="950" dirty="0"/>
          </a:p>
          <a:p>
            <a:pPr marL="193040" indent="-193040" algn="l">
              <a:lnSpc>
                <a:spcPct val="133000"/>
              </a:lnSpc>
              <a:buSzPct val="100000"/>
              <a:buChar char="•"/>
            </a:pPr>
            <a:r>
              <a:rPr lang="en-US" sz="950" dirty="0">
                <a:solidFill>
                  <a:srgbClr val="272525"/>
                </a:solidFill>
                <a:latin typeface="Inter" pitchFamily="34" charset="0"/>
                <a:ea typeface="Inter" pitchFamily="34" charset="-122"/>
                <a:cs typeface="Inter" pitchFamily="34" charset="-120"/>
              </a:rPr>
              <a:t>Priority ngoài khoảng 1 → 5</a:t>
            </a:r>
            <a:endParaRPr lang="en-US" sz="950" dirty="0"/>
          </a:p>
          <a:p>
            <a:pPr marL="193040" indent="-193040" algn="l">
              <a:lnSpc>
                <a:spcPct val="133000"/>
              </a:lnSpc>
              <a:buSzPct val="100000"/>
              <a:buChar char="•"/>
            </a:pPr>
            <a:r>
              <a:rPr lang="en-US" sz="950" dirty="0">
                <a:solidFill>
                  <a:srgbClr val="272525"/>
                </a:solidFill>
                <a:latin typeface="Inter" pitchFamily="34" charset="0"/>
                <a:ea typeface="Inter" pitchFamily="34" charset="-122"/>
                <a:cs typeface="Inter" pitchFamily="34" charset="-120"/>
              </a:rPr>
              <a:t>Title ngắn hơn 3 ký tự</a:t>
            </a:r>
            <a:endParaRPr lang="en-US" sz="9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33987" y="2232943"/>
            <a:ext cx="4013895" cy="2070348"/>
          </a:xfrm>
          <a:prstGeom prst="rect">
            <a:avLst/>
          </a:prstGeom>
        </p:spPr>
      </p:pic>
      <p:pic>
        <p:nvPicPr>
          <p:cNvPr id="11"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47917" y="2337792"/>
            <a:ext cx="186035" cy="186035"/>
          </a:xfrm>
          <a:prstGeom prst="rect">
            <a:avLst/>
          </a:prstGeom>
        </p:spPr>
      </p:pic>
      <p:sp>
        <p:nvSpPr>
          <p:cNvPr id="12" name="Text 6"/>
          <p:cNvSpPr/>
          <p:nvPr/>
        </p:nvSpPr>
        <p:spPr>
          <a:xfrm>
            <a:off x="4772248" y="2743274"/>
            <a:ext cx="1550566" cy="193849"/>
          </a:xfrm>
          <a:prstGeom prst="rect">
            <a:avLst/>
          </a:prstGeom>
          <a:noFill/>
          <a:ln/>
        </p:spPr>
        <p:txBody>
          <a:bodyPr wrap="none" lIns="0" tIns="0" rIns="0" bIns="0" rtlCol="0" anchor="t"/>
          <a:lstStyle/>
          <a:p>
            <a:pPr marL="0" indent="0" algn="l">
              <a:lnSpc>
                <a:spcPct val="104000"/>
              </a:lnSpc>
              <a:buNone/>
            </a:pPr>
            <a:r>
              <a:rPr lang="en-US" sz="1200" b="1" dirty="0">
                <a:solidFill>
                  <a:srgbClr val="272525"/>
                </a:solidFill>
                <a:latin typeface="Inter Bold" pitchFamily="34" charset="0"/>
                <a:ea typeface="Inter Bold" pitchFamily="34" charset="-122"/>
                <a:cs typeface="Inter Bold" pitchFamily="34" charset="-120"/>
              </a:rPr>
              <a:t>Business Validation</a:t>
            </a:r>
            <a:endParaRPr lang="en-US" sz="1200" dirty="0"/>
          </a:p>
        </p:txBody>
      </p:sp>
      <p:sp>
        <p:nvSpPr>
          <p:cNvPr id="13" name="Text 7"/>
          <p:cNvSpPr/>
          <p:nvPr/>
        </p:nvSpPr>
        <p:spPr>
          <a:xfrm>
            <a:off x="4772248" y="3011537"/>
            <a:ext cx="3737372" cy="682154"/>
          </a:xfrm>
          <a:prstGeom prst="rect">
            <a:avLst/>
          </a:prstGeom>
          <a:noFill/>
          <a:ln/>
        </p:spPr>
        <p:txBody>
          <a:bodyPr wrap="square" lIns="0" tIns="0" rIns="0" bIns="0" rtlCol="0" anchor="t">
            <a:normAutofit/>
          </a:bodyPr>
          <a:lstStyle/>
          <a:p>
            <a:pPr marL="193040" indent="-193040" algn="l">
              <a:lnSpc>
                <a:spcPct val="133000"/>
              </a:lnSpc>
              <a:buSzPct val="100000"/>
              <a:buChar char="•"/>
            </a:pPr>
            <a:r>
              <a:rPr lang="en-US" sz="950" dirty="0">
                <a:solidFill>
                  <a:srgbClr val="272525"/>
                </a:solidFill>
                <a:latin typeface="Inter" pitchFamily="34" charset="0"/>
                <a:ea typeface="Inter" pitchFamily="34" charset="-122"/>
                <a:cs typeface="Inter" pitchFamily="34" charset="-120"/>
              </a:rPr>
              <a:t>Title đã tồn tại trong DB</a:t>
            </a:r>
            <a:endParaRPr lang="en-US" sz="950" dirty="0"/>
          </a:p>
          <a:p>
            <a:pPr marL="193040" indent="-193040" algn="l">
              <a:lnSpc>
                <a:spcPct val="133000"/>
              </a:lnSpc>
              <a:buSzPct val="100000"/>
              <a:buChar char="•"/>
            </a:pPr>
            <a:r>
              <a:rPr lang="en-US" sz="950" dirty="0">
                <a:solidFill>
                  <a:srgbClr val="272525"/>
                </a:solidFill>
                <a:latin typeface="Inter" pitchFamily="34" charset="0"/>
                <a:ea typeface="Inter" pitchFamily="34" charset="-122"/>
                <a:cs typeface="Inter" pitchFamily="34" charset="-120"/>
              </a:rPr>
              <a:t>Status không hợp lệ</a:t>
            </a:r>
            <a:endParaRPr lang="en-US" sz="950" dirty="0"/>
          </a:p>
          <a:p>
            <a:pPr marL="193040" indent="-193040" algn="l">
              <a:lnSpc>
                <a:spcPct val="133000"/>
              </a:lnSpc>
              <a:buSzPct val="100000"/>
              <a:buChar char="•"/>
            </a:pPr>
            <a:r>
              <a:rPr lang="en-US" sz="950" dirty="0">
                <a:solidFill>
                  <a:srgbClr val="272525"/>
                </a:solidFill>
                <a:latin typeface="Inter" pitchFamily="34" charset="0"/>
                <a:ea typeface="Inter" pitchFamily="34" charset="-122"/>
                <a:cs typeface="Inter" pitchFamily="34" charset="-120"/>
              </a:rPr>
              <a:t>Task ID không tìm thấy (404)</a:t>
            </a:r>
            <a:endParaRPr lang="en-US" sz="950" dirty="0"/>
          </a:p>
        </p:txBody>
      </p:sp>
      <p:sp>
        <p:nvSpPr>
          <p:cNvPr id="14" name="Text 8"/>
          <p:cNvSpPr/>
          <p:nvPr/>
        </p:nvSpPr>
        <p:spPr>
          <a:xfrm>
            <a:off x="4772248" y="3768105"/>
            <a:ext cx="373737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72525"/>
                </a:solidFill>
                <a:latin typeface="Inter" pitchFamily="34" charset="0"/>
                <a:ea typeface="Inter" pitchFamily="34" charset="-122"/>
                <a:cs typeface="Inter" pitchFamily="34" charset="-120"/>
              </a:rPr>
              <a:t>Sử dụng </a:t>
            </a:r>
            <a:r>
              <a:rPr lang="en-US" sz="950" dirty="0">
                <a:solidFill>
                  <a:srgbClr val="272525"/>
                </a:solidFill>
                <a:highlight>
                  <a:srgbClr val="F2F2F2"/>
                </a:highlight>
                <a:latin typeface="Consolas" pitchFamily="34" charset="0"/>
                <a:ea typeface="Consolas" pitchFamily="34" charset="-122"/>
                <a:cs typeface="Consolas" pitchFamily="34" charset="-120"/>
              </a:rPr>
              <a:t>HTTPException</a:t>
            </a:r>
            <a:r>
              <a:rPr lang="en-US" sz="950" dirty="0">
                <a:solidFill>
                  <a:srgbClr val="272525"/>
                </a:solidFill>
                <a:latin typeface="Inter" pitchFamily="34" charset="0"/>
                <a:ea typeface="Inter" pitchFamily="34" charset="-122"/>
                <a:cs typeface="Inter" pitchFamily="34" charset="-120"/>
              </a:rPr>
              <a:t> để ném lỗi tập trung, đảm bảo response nhất quán.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96119" y="376312"/>
            <a:ext cx="1166961" cy="172938"/>
          </a:xfrm>
          <a:prstGeom prst="roundRect">
            <a:avLst>
              <a:gd name="adj" fmla="val 19205"/>
            </a:avLst>
          </a:prstGeom>
          <a:solidFill>
            <a:srgbClr val="DADBF1"/>
          </a:solidFill>
          <a:ln/>
        </p:spPr>
        <p:txBody>
          <a:bodyPr/>
          <a:lstStyle/>
          <a:p>
            <a:endParaRPr lang="vi-VN"/>
          </a:p>
        </p:txBody>
      </p:sp>
      <p:sp>
        <p:nvSpPr>
          <p:cNvPr id="3" name="Text 1"/>
          <p:cNvSpPr/>
          <p:nvPr/>
        </p:nvSpPr>
        <p:spPr>
          <a:xfrm>
            <a:off x="555427" y="405929"/>
            <a:ext cx="1505545" cy="113705"/>
          </a:xfrm>
          <a:prstGeom prst="rect">
            <a:avLst/>
          </a:prstGeom>
          <a:noFill/>
          <a:ln/>
        </p:spPr>
        <p:txBody>
          <a:bodyPr wrap="none" lIns="0" tIns="0" rIns="0" bIns="0" rtlCol="0" anchor="t"/>
          <a:lstStyle/>
          <a:p>
            <a:pPr marL="0" indent="0" algn="l">
              <a:lnSpc>
                <a:spcPct val="120000"/>
              </a:lnSpc>
              <a:buNone/>
            </a:pPr>
            <a:r>
              <a:rPr lang="en-US" sz="600" dirty="0">
                <a:solidFill>
                  <a:srgbClr val="272525"/>
                </a:solidFill>
                <a:latin typeface="Inter" pitchFamily="34" charset="0"/>
                <a:ea typeface="Inter" pitchFamily="34" charset="-122"/>
                <a:cs typeface="Inter" pitchFamily="34" charset="-120"/>
              </a:rPr>
              <a:t>CHƯƠNG 6 · ERROR CODES</a:t>
            </a:r>
            <a:endParaRPr lang="en-US" sz="600" dirty="0"/>
          </a:p>
        </p:txBody>
      </p:sp>
      <p:sp>
        <p:nvSpPr>
          <p:cNvPr id="4" name="Text 2"/>
          <p:cNvSpPr/>
          <p:nvPr/>
        </p:nvSpPr>
        <p:spPr>
          <a:xfrm>
            <a:off x="496119" y="580727"/>
            <a:ext cx="4397946" cy="308893"/>
          </a:xfrm>
          <a:prstGeom prst="rect">
            <a:avLst/>
          </a:prstGeom>
          <a:noFill/>
          <a:ln/>
        </p:spPr>
        <p:txBody>
          <a:bodyPr wrap="none" lIns="0" tIns="0" rIns="0" bIns="0" rtlCol="0" anchor="t"/>
          <a:lstStyle/>
          <a:p>
            <a:pPr marL="0" indent="0" algn="l">
              <a:lnSpc>
                <a:spcPct val="104000"/>
              </a:lnSpc>
              <a:buNone/>
            </a:pPr>
            <a:r>
              <a:rPr lang="en-US" sz="1900" b="1" dirty="0">
                <a:solidFill>
                  <a:srgbClr val="000000"/>
                </a:solidFill>
                <a:latin typeface="Inter Bold" pitchFamily="34" charset="0"/>
                <a:ea typeface="Inter Bold" pitchFamily="34" charset="-122"/>
                <a:cs typeface="Inter Bold" pitchFamily="34" charset="-120"/>
              </a:rPr>
              <a:t>Danh sách Error Code chuẩn hóa</a:t>
            </a:r>
            <a:endParaRPr lang="en-US" sz="1900" dirty="0"/>
          </a:p>
        </p:txBody>
      </p:sp>
      <p:sp>
        <p:nvSpPr>
          <p:cNvPr id="5" name="Text 3"/>
          <p:cNvSpPr/>
          <p:nvPr/>
        </p:nvSpPr>
        <p:spPr>
          <a:xfrm>
            <a:off x="496119" y="1007715"/>
            <a:ext cx="8151763" cy="284113"/>
          </a:xfrm>
          <a:prstGeom prst="rect">
            <a:avLst/>
          </a:prstGeom>
          <a:noFill/>
          <a:ln/>
        </p:spPr>
        <p:txBody>
          <a:bodyPr wrap="square" lIns="0" tIns="0" rIns="0" bIns="0" rtlCol="0" anchor="t">
            <a:normAutofit/>
          </a:bodyPr>
          <a:lstStyle/>
          <a:p>
            <a:pPr marL="0" indent="0" algn="l">
              <a:lnSpc>
                <a:spcPct val="120000"/>
              </a:lnSpc>
              <a:buNone/>
            </a:pPr>
            <a:r>
              <a:rPr lang="en-US" sz="750" dirty="0">
                <a:solidFill>
                  <a:srgbClr val="272525"/>
                </a:solidFill>
                <a:latin typeface="Inter" pitchFamily="34" charset="0"/>
                <a:ea typeface="Inter" pitchFamily="34" charset="-122"/>
                <a:cs typeface="Inter" pitchFamily="34" charset="-120"/>
              </a:rPr>
              <a:t>Mỗi lỗi trong hệ thống được gán một mã định danh độc nhất (error code), giúp frontend dễ dàng phân loại và hiển thị thông báo phù hợp. Response lỗi tuân theo format thống nhất bao gồm </a:t>
            </a:r>
            <a:r>
              <a:rPr lang="en-US" sz="750" b="1" dirty="0">
                <a:solidFill>
                  <a:srgbClr val="272525"/>
                </a:solidFill>
                <a:latin typeface="Inter Bold" pitchFamily="34" charset="0"/>
                <a:ea typeface="Inter Bold" pitchFamily="34" charset="-122"/>
                <a:cs typeface="Inter Bold" pitchFamily="34" charset="-120"/>
              </a:rPr>
              <a:t>statusCode</a:t>
            </a:r>
            <a:r>
              <a:rPr lang="en-US" sz="750" dirty="0">
                <a:solidFill>
                  <a:srgbClr val="272525"/>
                </a:solidFill>
                <a:latin typeface="Inter" pitchFamily="34" charset="0"/>
                <a:ea typeface="Inter" pitchFamily="34" charset="-122"/>
                <a:cs typeface="Inter" pitchFamily="34" charset="-120"/>
              </a:rPr>
              <a:t>, </a:t>
            </a:r>
            <a:r>
              <a:rPr lang="en-US" sz="750" b="1" dirty="0">
                <a:solidFill>
                  <a:srgbClr val="272525"/>
                </a:solidFill>
                <a:latin typeface="Inter Bold" pitchFamily="34" charset="0"/>
                <a:ea typeface="Inter Bold" pitchFamily="34" charset="-122"/>
                <a:cs typeface="Inter Bold" pitchFamily="34" charset="-120"/>
              </a:rPr>
              <a:t>message</a:t>
            </a:r>
            <a:r>
              <a:rPr lang="en-US" sz="750" dirty="0">
                <a:solidFill>
                  <a:srgbClr val="272525"/>
                </a:solidFill>
                <a:latin typeface="Inter" pitchFamily="34" charset="0"/>
                <a:ea typeface="Inter" pitchFamily="34" charset="-122"/>
                <a:cs typeface="Inter" pitchFamily="34" charset="-120"/>
              </a:rPr>
              <a:t>, </a:t>
            </a:r>
            <a:r>
              <a:rPr lang="en-US" sz="750" b="1" dirty="0">
                <a:solidFill>
                  <a:srgbClr val="272525"/>
                </a:solidFill>
                <a:latin typeface="Inter Bold" pitchFamily="34" charset="0"/>
                <a:ea typeface="Inter Bold" pitchFamily="34" charset="-122"/>
                <a:cs typeface="Inter Bold" pitchFamily="34" charset="-120"/>
              </a:rPr>
              <a:t>data</a:t>
            </a:r>
            <a:r>
              <a:rPr lang="en-US" sz="750" dirty="0">
                <a:solidFill>
                  <a:srgbClr val="272525"/>
                </a:solidFill>
                <a:latin typeface="Inter" pitchFamily="34" charset="0"/>
                <a:ea typeface="Inter" pitchFamily="34" charset="-122"/>
                <a:cs typeface="Inter" pitchFamily="34" charset="-120"/>
              </a:rPr>
              <a:t>, </a:t>
            </a:r>
            <a:r>
              <a:rPr lang="en-US" sz="750" b="1" dirty="0">
                <a:solidFill>
                  <a:srgbClr val="272525"/>
                </a:solidFill>
                <a:latin typeface="Inter Bold" pitchFamily="34" charset="0"/>
                <a:ea typeface="Inter Bold" pitchFamily="34" charset="-122"/>
                <a:cs typeface="Inter Bold" pitchFamily="34" charset="-120"/>
              </a:rPr>
              <a:t>error code</a:t>
            </a:r>
            <a:r>
              <a:rPr lang="en-US" sz="750" dirty="0">
                <a:solidFill>
                  <a:srgbClr val="272525"/>
                </a:solidFill>
                <a:latin typeface="Inter" pitchFamily="34" charset="0"/>
                <a:ea typeface="Inter" pitchFamily="34" charset="-122"/>
                <a:cs typeface="Inter" pitchFamily="34" charset="-120"/>
              </a:rPr>
              <a:t>, </a:t>
            </a:r>
            <a:r>
              <a:rPr lang="en-US" sz="750" b="1" dirty="0">
                <a:solidFill>
                  <a:srgbClr val="272525"/>
                </a:solidFill>
                <a:latin typeface="Inter Bold" pitchFamily="34" charset="0"/>
                <a:ea typeface="Inter Bold" pitchFamily="34" charset="-122"/>
                <a:cs typeface="Inter Bold" pitchFamily="34" charset="-120"/>
              </a:rPr>
              <a:t>timestamp</a:t>
            </a:r>
            <a:r>
              <a:rPr lang="en-US" sz="750" dirty="0">
                <a:solidFill>
                  <a:srgbClr val="272525"/>
                </a:solidFill>
                <a:latin typeface="Inter" pitchFamily="34" charset="0"/>
                <a:ea typeface="Inter" pitchFamily="34" charset="-122"/>
                <a:cs typeface="Inter" pitchFamily="34" charset="-120"/>
              </a:rPr>
              <a:t> và </a:t>
            </a:r>
            <a:r>
              <a:rPr lang="en-US" sz="750" b="1" dirty="0">
                <a:solidFill>
                  <a:srgbClr val="272525"/>
                </a:solidFill>
                <a:latin typeface="Inter Bold" pitchFamily="34" charset="0"/>
                <a:ea typeface="Inter Bold" pitchFamily="34" charset="-122"/>
                <a:cs typeface="Inter Bold" pitchFamily="34" charset="-120"/>
              </a:rPr>
              <a:t>path</a:t>
            </a:r>
            <a:r>
              <a:rPr lang="en-US" sz="750" dirty="0">
                <a:solidFill>
                  <a:srgbClr val="272525"/>
                </a:solidFill>
                <a:latin typeface="Inter" pitchFamily="34" charset="0"/>
                <a:ea typeface="Inter" pitchFamily="34" charset="-122"/>
                <a:cs typeface="Inter" pitchFamily="34" charset="-120"/>
              </a:rPr>
              <a:t>.</a:t>
            </a:r>
            <a:endParaRPr lang="en-US" sz="750" dirty="0"/>
          </a:p>
        </p:txBody>
      </p:sp>
      <p:sp>
        <p:nvSpPr>
          <p:cNvPr id="6" name="Shape 4"/>
          <p:cNvSpPr/>
          <p:nvPr/>
        </p:nvSpPr>
        <p:spPr>
          <a:xfrm>
            <a:off x="496119" y="1380381"/>
            <a:ext cx="8151763" cy="1509861"/>
          </a:xfrm>
          <a:prstGeom prst="roundRect">
            <a:avLst>
              <a:gd name="adj" fmla="val 2750"/>
            </a:avLst>
          </a:prstGeom>
          <a:noFill/>
          <a:ln w="4763">
            <a:solidFill>
              <a:srgbClr val="000000">
                <a:alpha val="8000"/>
              </a:srgbClr>
            </a:solidFill>
            <a:prstDash val="solid"/>
          </a:ln>
        </p:spPr>
        <p:txBody>
          <a:bodyPr/>
          <a:lstStyle/>
          <a:p>
            <a:endParaRPr lang="vi-VN"/>
          </a:p>
        </p:txBody>
      </p:sp>
      <p:sp>
        <p:nvSpPr>
          <p:cNvPr id="7" name="Shape 5"/>
          <p:cNvSpPr/>
          <p:nvPr/>
        </p:nvSpPr>
        <p:spPr>
          <a:xfrm>
            <a:off x="500955" y="1385143"/>
            <a:ext cx="2442642" cy="248469"/>
          </a:xfrm>
          <a:prstGeom prst="rect">
            <a:avLst/>
          </a:prstGeom>
          <a:solidFill>
            <a:srgbClr val="3B82F6"/>
          </a:solidFill>
          <a:ln/>
        </p:spPr>
        <p:txBody>
          <a:bodyPr/>
          <a:lstStyle/>
          <a:p>
            <a:endParaRPr lang="vi-VN"/>
          </a:p>
        </p:txBody>
      </p:sp>
      <p:sp>
        <p:nvSpPr>
          <p:cNvPr id="8" name="Text 6"/>
          <p:cNvSpPr/>
          <p:nvPr/>
        </p:nvSpPr>
        <p:spPr>
          <a:xfrm>
            <a:off x="599777" y="1437159"/>
            <a:ext cx="2699817" cy="142056"/>
          </a:xfrm>
          <a:prstGeom prst="rect">
            <a:avLst/>
          </a:prstGeom>
          <a:noFill/>
          <a:ln/>
        </p:spPr>
        <p:txBody>
          <a:bodyPr wrap="none" lIns="0" tIns="0" rIns="0" bIns="0" rtlCol="0" anchor="t"/>
          <a:lstStyle/>
          <a:p>
            <a:pPr marL="0" indent="0" algn="l">
              <a:lnSpc>
                <a:spcPct val="120000"/>
              </a:lnSpc>
              <a:buNone/>
            </a:pPr>
            <a:r>
              <a:rPr lang="en-US" sz="750" b="1" dirty="0">
                <a:solidFill>
                  <a:srgbClr val="272525"/>
                </a:solidFill>
                <a:latin typeface="Inter Bold" pitchFamily="34" charset="0"/>
                <a:ea typeface="Inter Bold" pitchFamily="34" charset="-122"/>
                <a:cs typeface="Inter Bold" pitchFamily="34" charset="-120"/>
              </a:rPr>
              <a:t>Error Code</a:t>
            </a:r>
            <a:endParaRPr lang="en-US" sz="750" dirty="0"/>
          </a:p>
        </p:txBody>
      </p:sp>
      <p:sp>
        <p:nvSpPr>
          <p:cNvPr id="9" name="Shape 7"/>
          <p:cNvSpPr/>
          <p:nvPr/>
        </p:nvSpPr>
        <p:spPr>
          <a:xfrm>
            <a:off x="2943597" y="1385143"/>
            <a:ext cx="5699522" cy="248469"/>
          </a:xfrm>
          <a:prstGeom prst="rect">
            <a:avLst/>
          </a:prstGeom>
          <a:solidFill>
            <a:srgbClr val="3B82F6"/>
          </a:solidFill>
          <a:ln/>
        </p:spPr>
        <p:txBody>
          <a:bodyPr/>
          <a:lstStyle/>
          <a:p>
            <a:endParaRPr lang="vi-VN"/>
          </a:p>
        </p:txBody>
      </p:sp>
      <p:sp>
        <p:nvSpPr>
          <p:cNvPr id="10" name="Text 8"/>
          <p:cNvSpPr/>
          <p:nvPr/>
        </p:nvSpPr>
        <p:spPr>
          <a:xfrm>
            <a:off x="3044800" y="1437159"/>
            <a:ext cx="5956697" cy="142056"/>
          </a:xfrm>
          <a:prstGeom prst="rect">
            <a:avLst/>
          </a:prstGeom>
          <a:noFill/>
          <a:ln/>
        </p:spPr>
        <p:txBody>
          <a:bodyPr wrap="none" lIns="0" tIns="0" rIns="0" bIns="0" rtlCol="0" anchor="t"/>
          <a:lstStyle/>
          <a:p>
            <a:pPr marL="0" indent="0" algn="l">
              <a:lnSpc>
                <a:spcPct val="120000"/>
              </a:lnSpc>
              <a:buNone/>
            </a:pPr>
            <a:r>
              <a:rPr lang="en-US" sz="750" b="1" dirty="0">
                <a:solidFill>
                  <a:srgbClr val="272525"/>
                </a:solidFill>
                <a:latin typeface="Inter Bold" pitchFamily="34" charset="0"/>
                <a:ea typeface="Inter Bold" pitchFamily="34" charset="-122"/>
                <a:cs typeface="Inter Bold" pitchFamily="34" charset="-120"/>
              </a:rPr>
              <a:t>Ý nghĩa</a:t>
            </a:r>
            <a:endParaRPr lang="en-US" sz="750" dirty="0"/>
          </a:p>
        </p:txBody>
      </p:sp>
      <p:sp>
        <p:nvSpPr>
          <p:cNvPr id="11" name="Text 9"/>
          <p:cNvSpPr/>
          <p:nvPr/>
        </p:nvSpPr>
        <p:spPr>
          <a:xfrm>
            <a:off x="599777" y="1688009"/>
            <a:ext cx="2699817" cy="142056"/>
          </a:xfrm>
          <a:prstGeom prst="rect">
            <a:avLst/>
          </a:prstGeom>
          <a:noFill/>
          <a:ln/>
        </p:spPr>
        <p:txBody>
          <a:bodyPr wrap="none" lIns="0" tIns="0" rIns="0" bIns="0" rtlCol="0" anchor="t"/>
          <a:lstStyle/>
          <a:p>
            <a:pPr marL="0" indent="0" algn="l">
              <a:lnSpc>
                <a:spcPct val="120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ERR-TASK-01</a:t>
            </a:r>
            <a:endParaRPr lang="en-US" sz="750" dirty="0"/>
          </a:p>
        </p:txBody>
      </p:sp>
      <p:sp>
        <p:nvSpPr>
          <p:cNvPr id="12" name="Text 10"/>
          <p:cNvSpPr/>
          <p:nvPr/>
        </p:nvSpPr>
        <p:spPr>
          <a:xfrm>
            <a:off x="3044800" y="1688009"/>
            <a:ext cx="5956697" cy="142056"/>
          </a:xfrm>
          <a:prstGeom prst="rect">
            <a:avLst/>
          </a:prstGeom>
          <a:noFill/>
          <a:ln/>
        </p:spPr>
        <p:txBody>
          <a:bodyPr wrap="none" lIns="0" tIns="0" rIns="0" bIns="0" rtlCol="0" anchor="t"/>
          <a:lstStyle/>
          <a:p>
            <a:pPr marL="0" indent="0" algn="l">
              <a:lnSpc>
                <a:spcPct val="120000"/>
              </a:lnSpc>
              <a:buNone/>
            </a:pPr>
            <a:r>
              <a:rPr lang="en-US" sz="750" dirty="0">
                <a:solidFill>
                  <a:srgbClr val="272525"/>
                </a:solidFill>
                <a:latin typeface="Inter" pitchFamily="34" charset="0"/>
                <a:ea typeface="Inter" pitchFamily="34" charset="-122"/>
                <a:cs typeface="Inter" pitchFamily="34" charset="-120"/>
              </a:rPr>
              <a:t>Trùng tiêu đề — title đã tồn tại trong hệ thống</a:t>
            </a:r>
            <a:endParaRPr lang="en-US" sz="750" dirty="0"/>
          </a:p>
        </p:txBody>
      </p:sp>
      <p:sp>
        <p:nvSpPr>
          <p:cNvPr id="13" name="Text 11"/>
          <p:cNvSpPr/>
          <p:nvPr/>
        </p:nvSpPr>
        <p:spPr>
          <a:xfrm>
            <a:off x="599777" y="1938858"/>
            <a:ext cx="2699817" cy="142056"/>
          </a:xfrm>
          <a:prstGeom prst="rect">
            <a:avLst/>
          </a:prstGeom>
          <a:noFill/>
          <a:ln/>
        </p:spPr>
        <p:txBody>
          <a:bodyPr wrap="none" lIns="0" tIns="0" rIns="0" bIns="0" rtlCol="0" anchor="t"/>
          <a:lstStyle/>
          <a:p>
            <a:pPr marL="0" indent="0" algn="l">
              <a:lnSpc>
                <a:spcPct val="120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ERR-TASK-02</a:t>
            </a:r>
            <a:endParaRPr lang="en-US" sz="750" dirty="0"/>
          </a:p>
        </p:txBody>
      </p:sp>
      <p:sp>
        <p:nvSpPr>
          <p:cNvPr id="14" name="Text 12"/>
          <p:cNvSpPr/>
          <p:nvPr/>
        </p:nvSpPr>
        <p:spPr>
          <a:xfrm>
            <a:off x="3044800" y="1938858"/>
            <a:ext cx="5956697" cy="142056"/>
          </a:xfrm>
          <a:prstGeom prst="rect">
            <a:avLst/>
          </a:prstGeom>
          <a:noFill/>
          <a:ln/>
        </p:spPr>
        <p:txBody>
          <a:bodyPr wrap="none" lIns="0" tIns="0" rIns="0" bIns="0" rtlCol="0" anchor="t"/>
          <a:lstStyle/>
          <a:p>
            <a:pPr marL="0" indent="0" algn="l">
              <a:lnSpc>
                <a:spcPct val="120000"/>
              </a:lnSpc>
              <a:buNone/>
            </a:pPr>
            <a:r>
              <a:rPr lang="en-US" sz="750" dirty="0">
                <a:solidFill>
                  <a:srgbClr val="272525"/>
                </a:solidFill>
                <a:latin typeface="Inter" pitchFamily="34" charset="0"/>
                <a:ea typeface="Inter" pitchFamily="34" charset="-122"/>
                <a:cs typeface="Inter" pitchFamily="34" charset="-120"/>
              </a:rPr>
              <a:t>Priority không hợp lệ — ngoài khoảng 1 đến 5</a:t>
            </a:r>
            <a:endParaRPr lang="en-US" sz="750" dirty="0"/>
          </a:p>
        </p:txBody>
      </p:sp>
      <p:sp>
        <p:nvSpPr>
          <p:cNvPr id="15" name="Text 13"/>
          <p:cNvSpPr/>
          <p:nvPr/>
        </p:nvSpPr>
        <p:spPr>
          <a:xfrm>
            <a:off x="599777" y="2189708"/>
            <a:ext cx="2699817" cy="142056"/>
          </a:xfrm>
          <a:prstGeom prst="rect">
            <a:avLst/>
          </a:prstGeom>
          <a:noFill/>
          <a:ln/>
        </p:spPr>
        <p:txBody>
          <a:bodyPr wrap="none" lIns="0" tIns="0" rIns="0" bIns="0" rtlCol="0" anchor="t"/>
          <a:lstStyle/>
          <a:p>
            <a:pPr marL="0" indent="0" algn="l">
              <a:lnSpc>
                <a:spcPct val="120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ERR-TASK-03</a:t>
            </a:r>
            <a:endParaRPr lang="en-US" sz="750" dirty="0"/>
          </a:p>
        </p:txBody>
      </p:sp>
      <p:sp>
        <p:nvSpPr>
          <p:cNvPr id="16" name="Text 14"/>
          <p:cNvSpPr/>
          <p:nvPr/>
        </p:nvSpPr>
        <p:spPr>
          <a:xfrm>
            <a:off x="3044800" y="2189708"/>
            <a:ext cx="5956697" cy="142056"/>
          </a:xfrm>
          <a:prstGeom prst="rect">
            <a:avLst/>
          </a:prstGeom>
          <a:noFill/>
          <a:ln/>
        </p:spPr>
        <p:txBody>
          <a:bodyPr wrap="none" lIns="0" tIns="0" rIns="0" bIns="0" rtlCol="0" anchor="t"/>
          <a:lstStyle/>
          <a:p>
            <a:pPr marL="0" indent="0" algn="l">
              <a:lnSpc>
                <a:spcPct val="120000"/>
              </a:lnSpc>
              <a:buNone/>
            </a:pPr>
            <a:r>
              <a:rPr lang="en-US" sz="750" dirty="0">
                <a:solidFill>
                  <a:srgbClr val="272525"/>
                </a:solidFill>
                <a:latin typeface="Inter" pitchFamily="34" charset="0"/>
                <a:ea typeface="Inter" pitchFamily="34" charset="-122"/>
                <a:cs typeface="Inter" pitchFamily="34" charset="-120"/>
              </a:rPr>
              <a:t>Status không hợp lệ — không thuộc todo / in_progress / done</a:t>
            </a:r>
            <a:endParaRPr lang="en-US" sz="750" dirty="0"/>
          </a:p>
        </p:txBody>
      </p:sp>
      <p:sp>
        <p:nvSpPr>
          <p:cNvPr id="17" name="Text 15"/>
          <p:cNvSpPr/>
          <p:nvPr/>
        </p:nvSpPr>
        <p:spPr>
          <a:xfrm>
            <a:off x="599777" y="2440558"/>
            <a:ext cx="2699817" cy="142056"/>
          </a:xfrm>
          <a:prstGeom prst="rect">
            <a:avLst/>
          </a:prstGeom>
          <a:noFill/>
          <a:ln/>
        </p:spPr>
        <p:txBody>
          <a:bodyPr wrap="none" lIns="0" tIns="0" rIns="0" bIns="0" rtlCol="0" anchor="t"/>
          <a:lstStyle/>
          <a:p>
            <a:pPr marL="0" indent="0" algn="l">
              <a:lnSpc>
                <a:spcPct val="120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ERR-TASK-04</a:t>
            </a:r>
            <a:endParaRPr lang="en-US" sz="750" dirty="0"/>
          </a:p>
        </p:txBody>
      </p:sp>
      <p:sp>
        <p:nvSpPr>
          <p:cNvPr id="18" name="Text 16"/>
          <p:cNvSpPr/>
          <p:nvPr/>
        </p:nvSpPr>
        <p:spPr>
          <a:xfrm>
            <a:off x="3044800" y="2440558"/>
            <a:ext cx="5956697" cy="142056"/>
          </a:xfrm>
          <a:prstGeom prst="rect">
            <a:avLst/>
          </a:prstGeom>
          <a:noFill/>
          <a:ln/>
        </p:spPr>
        <p:txBody>
          <a:bodyPr wrap="none" lIns="0" tIns="0" rIns="0" bIns="0" rtlCol="0" anchor="t"/>
          <a:lstStyle/>
          <a:p>
            <a:pPr marL="0" indent="0" algn="l">
              <a:lnSpc>
                <a:spcPct val="120000"/>
              </a:lnSpc>
              <a:buNone/>
            </a:pPr>
            <a:r>
              <a:rPr lang="en-US" sz="750" dirty="0">
                <a:solidFill>
                  <a:srgbClr val="272525"/>
                </a:solidFill>
                <a:latin typeface="Inter" pitchFamily="34" charset="0"/>
                <a:ea typeface="Inter" pitchFamily="34" charset="-122"/>
                <a:cs typeface="Inter" pitchFamily="34" charset="-120"/>
              </a:rPr>
              <a:t>Không tìm thấy Task — ID không tồn tại trong hệ thống</a:t>
            </a:r>
            <a:endParaRPr lang="en-US" sz="750" dirty="0"/>
          </a:p>
        </p:txBody>
      </p:sp>
      <p:sp>
        <p:nvSpPr>
          <p:cNvPr id="19" name="Text 17"/>
          <p:cNvSpPr/>
          <p:nvPr/>
        </p:nvSpPr>
        <p:spPr>
          <a:xfrm>
            <a:off x="599777" y="2691408"/>
            <a:ext cx="2699817" cy="142056"/>
          </a:xfrm>
          <a:prstGeom prst="rect">
            <a:avLst/>
          </a:prstGeom>
          <a:noFill/>
          <a:ln/>
        </p:spPr>
        <p:txBody>
          <a:bodyPr wrap="none" lIns="0" tIns="0" rIns="0" bIns="0" rtlCol="0" anchor="t"/>
          <a:lstStyle/>
          <a:p>
            <a:pPr marL="0" indent="0" algn="l">
              <a:lnSpc>
                <a:spcPct val="120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ERR-VAL-422</a:t>
            </a:r>
            <a:endParaRPr lang="en-US" sz="750" dirty="0"/>
          </a:p>
        </p:txBody>
      </p:sp>
      <p:sp>
        <p:nvSpPr>
          <p:cNvPr id="20" name="Text 18"/>
          <p:cNvSpPr/>
          <p:nvPr/>
        </p:nvSpPr>
        <p:spPr>
          <a:xfrm>
            <a:off x="3044800" y="2691408"/>
            <a:ext cx="5956697" cy="142056"/>
          </a:xfrm>
          <a:prstGeom prst="rect">
            <a:avLst/>
          </a:prstGeom>
          <a:noFill/>
          <a:ln/>
        </p:spPr>
        <p:txBody>
          <a:bodyPr wrap="none" lIns="0" tIns="0" rIns="0" bIns="0" rtlCol="0" anchor="t"/>
          <a:lstStyle/>
          <a:p>
            <a:pPr marL="0" indent="0" algn="l">
              <a:lnSpc>
                <a:spcPct val="120000"/>
              </a:lnSpc>
              <a:buNone/>
            </a:pPr>
            <a:r>
              <a:rPr lang="en-US" sz="750" dirty="0">
                <a:solidFill>
                  <a:srgbClr val="272525"/>
                </a:solidFill>
                <a:latin typeface="Inter" pitchFamily="34" charset="0"/>
                <a:ea typeface="Inter" pitchFamily="34" charset="-122"/>
                <a:cs typeface="Inter" pitchFamily="34" charset="-120"/>
              </a:rPr>
              <a:t>Sai dữ liệu đầu vào — Pydantic validation thất bại</a:t>
            </a:r>
            <a:endParaRPr lang="en-US" sz="750" dirty="0"/>
          </a:p>
        </p:txBody>
      </p:sp>
      <p:sp>
        <p:nvSpPr>
          <p:cNvPr id="21" name="Shape 19"/>
          <p:cNvSpPr/>
          <p:nvPr/>
        </p:nvSpPr>
        <p:spPr>
          <a:xfrm>
            <a:off x="496119" y="3003500"/>
            <a:ext cx="8151763" cy="14288"/>
          </a:xfrm>
          <a:prstGeom prst="roundRect">
            <a:avLst>
              <a:gd name="adj" fmla="val 59998"/>
            </a:avLst>
          </a:prstGeom>
          <a:solidFill>
            <a:srgbClr val="272525">
              <a:alpha val="50000"/>
            </a:srgbClr>
          </a:solidFill>
          <a:ln/>
        </p:spPr>
        <p:txBody>
          <a:bodyPr/>
          <a:lstStyle/>
          <a:p>
            <a:endParaRPr lang="vi-VN"/>
          </a:p>
        </p:txBody>
      </p:sp>
      <p:sp>
        <p:nvSpPr>
          <p:cNvPr id="22" name="Text 20"/>
          <p:cNvSpPr/>
          <p:nvPr/>
        </p:nvSpPr>
        <p:spPr>
          <a:xfrm>
            <a:off x="496119" y="3160588"/>
            <a:ext cx="1692771" cy="154409"/>
          </a:xfrm>
          <a:prstGeom prst="rect">
            <a:avLst/>
          </a:prstGeom>
          <a:noFill/>
          <a:ln/>
        </p:spPr>
        <p:txBody>
          <a:bodyPr wrap="none" lIns="0" tIns="0" rIns="0" bIns="0" rtlCol="0" anchor="t"/>
          <a:lstStyle/>
          <a:p>
            <a:pPr marL="0" indent="0" algn="l">
              <a:lnSpc>
                <a:spcPct val="104000"/>
              </a:lnSpc>
              <a:buNone/>
            </a:pPr>
            <a:r>
              <a:rPr lang="en-US" sz="950" b="1" dirty="0">
                <a:solidFill>
                  <a:srgbClr val="000000"/>
                </a:solidFill>
                <a:latin typeface="Inter Bold" pitchFamily="34" charset="0"/>
                <a:ea typeface="Inter Bold" pitchFamily="34" charset="-122"/>
                <a:cs typeface="Inter Bold" pitchFamily="34" charset="-120"/>
              </a:rPr>
              <a:t>Mẫu Error Response</a:t>
            </a:r>
            <a:endParaRPr lang="en-US" sz="950" dirty="0"/>
          </a:p>
        </p:txBody>
      </p:sp>
      <p:sp>
        <p:nvSpPr>
          <p:cNvPr id="23" name="Shape 21"/>
          <p:cNvSpPr/>
          <p:nvPr/>
        </p:nvSpPr>
        <p:spPr>
          <a:xfrm>
            <a:off x="496119" y="3433093"/>
            <a:ext cx="8151763" cy="1334095"/>
          </a:xfrm>
          <a:prstGeom prst="roundRect">
            <a:avLst>
              <a:gd name="adj" fmla="val 3112"/>
            </a:avLst>
          </a:prstGeom>
          <a:solidFill>
            <a:srgbClr val="F2F2F2"/>
          </a:solidFill>
          <a:ln/>
        </p:spPr>
        <p:txBody>
          <a:bodyPr/>
          <a:lstStyle/>
          <a:p>
            <a:endParaRPr lang="vi-VN"/>
          </a:p>
        </p:txBody>
      </p:sp>
      <p:sp>
        <p:nvSpPr>
          <p:cNvPr id="24" name="Shape 22"/>
          <p:cNvSpPr/>
          <p:nvPr/>
        </p:nvSpPr>
        <p:spPr>
          <a:xfrm>
            <a:off x="491207" y="3433093"/>
            <a:ext cx="8161586" cy="1334095"/>
          </a:xfrm>
          <a:prstGeom prst="roundRect">
            <a:avLst>
              <a:gd name="adj" fmla="val 1111"/>
            </a:avLst>
          </a:prstGeom>
          <a:solidFill>
            <a:srgbClr val="F2F2F2"/>
          </a:solidFill>
          <a:ln/>
        </p:spPr>
        <p:txBody>
          <a:bodyPr/>
          <a:lstStyle/>
          <a:p>
            <a:endParaRPr lang="vi-VN"/>
          </a:p>
        </p:txBody>
      </p:sp>
      <p:sp>
        <p:nvSpPr>
          <p:cNvPr id="25" name="Text 23"/>
          <p:cNvSpPr/>
          <p:nvPr/>
        </p:nvSpPr>
        <p:spPr>
          <a:xfrm>
            <a:off x="614735" y="3531915"/>
            <a:ext cx="7914531" cy="1136452"/>
          </a:xfrm>
          <a:prstGeom prst="rect">
            <a:avLst/>
          </a:prstGeom>
          <a:noFill/>
          <a:ln/>
        </p:spPr>
        <p:txBody>
          <a:bodyPr wrap="square" lIns="0" tIns="0" rIns="0" bIns="0" rtlCol="0" anchor="t">
            <a:normAutofit/>
          </a:bodyPr>
          <a:lstStyle/>
          <a:p>
            <a:pPr marL="0" indent="0" algn="l">
              <a:lnSpc>
                <a:spcPct val="120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a:t>
            </a:r>
            <a:endParaRPr lang="en-US" sz="750" dirty="0"/>
          </a:p>
          <a:p>
            <a:pPr marL="0" indent="0" algn="l">
              <a:lnSpc>
                <a:spcPct val="120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"statusCode": 400,</a:t>
            </a:r>
            <a:endParaRPr lang="en-US" sz="750" dirty="0"/>
          </a:p>
          <a:p>
            <a:pPr marL="0" indent="0" algn="l">
              <a:lnSpc>
                <a:spcPct val="120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"message": "Tiêu đề đã tồn tại",</a:t>
            </a:r>
            <a:endParaRPr lang="en-US" sz="750" dirty="0"/>
          </a:p>
          <a:p>
            <a:pPr marL="0" indent="0" algn="l">
              <a:lnSpc>
                <a:spcPct val="120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"data": null,</a:t>
            </a:r>
            <a:endParaRPr lang="en-US" sz="750" dirty="0"/>
          </a:p>
          <a:p>
            <a:pPr marL="0" indent="0" algn="l">
              <a:lnSpc>
                <a:spcPct val="120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"error": "ERR-TASK-01",</a:t>
            </a:r>
            <a:endParaRPr lang="en-US" sz="750" dirty="0"/>
          </a:p>
          <a:p>
            <a:pPr marL="0" indent="0" algn="l">
              <a:lnSpc>
                <a:spcPct val="120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"timestamp": "2025-01-15T10:30:00",</a:t>
            </a:r>
            <a:endParaRPr lang="en-US" sz="750" dirty="0"/>
          </a:p>
          <a:p>
            <a:pPr marL="0" indent="0" algn="l">
              <a:lnSpc>
                <a:spcPct val="120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"path": "/tasks"</a:t>
            </a:r>
            <a:endParaRPr lang="en-US" sz="750" dirty="0"/>
          </a:p>
          <a:p>
            <a:pPr marL="0" indent="0" algn="l">
              <a:lnSpc>
                <a:spcPct val="1200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96119" y="384721"/>
            <a:ext cx="1067619" cy="186110"/>
          </a:xfrm>
          <a:prstGeom prst="roundRect">
            <a:avLst>
              <a:gd name="adj" fmla="val 18896"/>
            </a:avLst>
          </a:prstGeom>
          <a:solidFill>
            <a:srgbClr val="DADBF1"/>
          </a:solidFill>
          <a:ln/>
        </p:spPr>
        <p:txBody>
          <a:bodyPr/>
          <a:lstStyle/>
          <a:p>
            <a:endParaRPr lang="vi-VN"/>
          </a:p>
        </p:txBody>
      </p:sp>
      <p:sp>
        <p:nvSpPr>
          <p:cNvPr id="3" name="Text 1"/>
          <p:cNvSpPr/>
          <p:nvPr/>
        </p:nvSpPr>
        <p:spPr>
          <a:xfrm>
            <a:off x="558850" y="416049"/>
            <a:ext cx="1399356" cy="123453"/>
          </a:xfrm>
          <a:prstGeom prst="rect">
            <a:avLst/>
          </a:prstGeom>
          <a:noFill/>
          <a:ln/>
        </p:spPr>
        <p:txBody>
          <a:bodyPr wrap="none" lIns="0" tIns="0" rIns="0" bIns="0" rtlCol="0" anchor="t"/>
          <a:lstStyle/>
          <a:p>
            <a:pPr marL="0" indent="0" algn="l">
              <a:lnSpc>
                <a:spcPct val="123000"/>
              </a:lnSpc>
              <a:buNone/>
            </a:pPr>
            <a:r>
              <a:rPr lang="en-US" sz="650" dirty="0">
                <a:solidFill>
                  <a:srgbClr val="272525"/>
                </a:solidFill>
                <a:latin typeface="Inter" pitchFamily="34" charset="0"/>
                <a:ea typeface="Inter" pitchFamily="34" charset="-122"/>
                <a:cs typeface="Inter" pitchFamily="34" charset="-120"/>
              </a:rPr>
              <a:t>CHƯƠNG 7 · TỔNG KẾT</a:t>
            </a:r>
            <a:endParaRPr lang="en-US" sz="650" dirty="0"/>
          </a:p>
        </p:txBody>
      </p:sp>
      <p:sp>
        <p:nvSpPr>
          <p:cNvPr id="4" name="Text 2"/>
          <p:cNvSpPr/>
          <p:nvPr/>
        </p:nvSpPr>
        <p:spPr>
          <a:xfrm>
            <a:off x="496119" y="606103"/>
            <a:ext cx="4100513" cy="327050"/>
          </a:xfrm>
          <a:prstGeom prst="rect">
            <a:avLst/>
          </a:prstGeom>
          <a:noFill/>
          <a:ln/>
        </p:spPr>
        <p:txBody>
          <a:bodyPr wrap="none" lIns="0" tIns="0" rIns="0" bIns="0" rtlCol="0" anchor="t"/>
          <a:lstStyle/>
          <a:p>
            <a:pPr marL="0" indent="0" algn="l">
              <a:lnSpc>
                <a:spcPct val="104000"/>
              </a:lnSpc>
              <a:buNone/>
            </a:pPr>
            <a:r>
              <a:rPr lang="en-US" sz="2050" b="1" dirty="0">
                <a:solidFill>
                  <a:srgbClr val="000000"/>
                </a:solidFill>
                <a:latin typeface="Inter Bold" pitchFamily="34" charset="0"/>
                <a:ea typeface="Inter Bold" pitchFamily="34" charset="-122"/>
                <a:cs typeface="Inter Bold" pitchFamily="34" charset="-120"/>
              </a:rPr>
              <a:t>Swagger UI &amp; Tổng kết dự án</a:t>
            </a:r>
            <a:endParaRPr lang="en-US" sz="2050" dirty="0"/>
          </a:p>
        </p:txBody>
      </p:sp>
      <p:sp>
        <p:nvSpPr>
          <p:cNvPr id="5" name="Text 3"/>
          <p:cNvSpPr/>
          <p:nvPr/>
        </p:nvSpPr>
        <p:spPr>
          <a:xfrm>
            <a:off x="496119" y="1065609"/>
            <a:ext cx="8151763" cy="308818"/>
          </a:xfrm>
          <a:prstGeom prst="rect">
            <a:avLst/>
          </a:prstGeom>
          <a:noFill/>
          <a:ln/>
        </p:spPr>
        <p:txBody>
          <a:bodyPr wrap="square" lIns="0" tIns="0" rIns="0" bIns="0" rtlCol="0" anchor="t">
            <a:normAutofit/>
          </a:bodyPr>
          <a:lstStyle/>
          <a:p>
            <a:pPr marL="0" indent="0" algn="l">
              <a:lnSpc>
                <a:spcPct val="123000"/>
              </a:lnSpc>
              <a:buNone/>
            </a:pPr>
            <a:r>
              <a:rPr lang="en-US" sz="800" dirty="0">
                <a:solidFill>
                  <a:srgbClr val="272525"/>
                </a:solidFill>
                <a:latin typeface="Inter" pitchFamily="34" charset="0"/>
                <a:ea typeface="Inter" pitchFamily="34" charset="-122"/>
                <a:cs typeface="Inter" pitchFamily="34" charset="-120"/>
              </a:rPr>
              <a:t>FastAPI tự động sinh tài liệu API tương tác tại </a:t>
            </a:r>
            <a:r>
              <a:rPr lang="en-US" sz="800" dirty="0">
                <a:solidFill>
                  <a:srgbClr val="272525"/>
                </a:solidFill>
                <a:highlight>
                  <a:srgbClr val="F2F2F2"/>
                </a:highlight>
                <a:latin typeface="Consolas" pitchFamily="34" charset="0"/>
                <a:ea typeface="Consolas" pitchFamily="34" charset="-122"/>
                <a:cs typeface="Consolas" pitchFamily="34" charset="-120"/>
              </a:rPr>
              <a:t>/docs</a:t>
            </a:r>
            <a:r>
              <a:rPr lang="en-US" sz="800" dirty="0">
                <a:solidFill>
                  <a:srgbClr val="272525"/>
                </a:solidFill>
                <a:latin typeface="Inter" pitchFamily="34" charset="0"/>
                <a:ea typeface="Inter" pitchFamily="34" charset="-122"/>
                <a:cs typeface="Inter" pitchFamily="34" charset="-120"/>
              </a:rPr>
              <a:t> (Swagger UI) và </a:t>
            </a:r>
            <a:r>
              <a:rPr lang="en-US" sz="800" dirty="0">
                <a:solidFill>
                  <a:srgbClr val="272525"/>
                </a:solidFill>
                <a:highlight>
                  <a:srgbClr val="F2F2F2"/>
                </a:highlight>
                <a:latin typeface="Consolas" pitchFamily="34" charset="0"/>
                <a:ea typeface="Consolas" pitchFamily="34" charset="-122"/>
                <a:cs typeface="Consolas" pitchFamily="34" charset="-120"/>
              </a:rPr>
              <a:t>/redoc</a:t>
            </a:r>
            <a:r>
              <a:rPr lang="en-US" sz="800" dirty="0">
                <a:solidFill>
                  <a:srgbClr val="272525"/>
                </a:solidFill>
                <a:latin typeface="Inter" pitchFamily="34" charset="0"/>
                <a:ea typeface="Inter" pitchFamily="34" charset="-122"/>
                <a:cs typeface="Inter" pitchFamily="34" charset="-120"/>
              </a:rPr>
              <a:t> (ReDoc). Người dùng có thể test API trực tiếp, xem schema Request/Response, và sinh curl command — không cần công cụ bổ sung.</a:t>
            </a:r>
            <a:endParaRPr lang="en-US" sz="800" dirty="0"/>
          </a:p>
        </p:txBody>
      </p:sp>
      <p:sp>
        <p:nvSpPr>
          <p:cNvPr id="6" name="Shape 4"/>
          <p:cNvSpPr/>
          <p:nvPr/>
        </p:nvSpPr>
        <p:spPr>
          <a:xfrm>
            <a:off x="420812" y="1473771"/>
            <a:ext cx="4098875" cy="1290265"/>
          </a:xfrm>
          <a:prstGeom prst="roundRect">
            <a:avLst>
              <a:gd name="adj" fmla="val 5841"/>
            </a:avLst>
          </a:prstGeom>
          <a:solidFill>
            <a:srgbClr val="3B82F6"/>
          </a:solidFill>
          <a:ln/>
        </p:spPr>
        <p:txBody>
          <a:bodyPr/>
          <a:lstStyle/>
          <a:p>
            <a:endParaRPr lang="vi-VN"/>
          </a:p>
        </p:txBody>
      </p:sp>
      <p:sp>
        <p:nvSpPr>
          <p:cNvPr id="7" name="Text 5"/>
          <p:cNvSpPr/>
          <p:nvPr/>
        </p:nvSpPr>
        <p:spPr>
          <a:xfrm>
            <a:off x="525438" y="1562026"/>
            <a:ext cx="1765474" cy="163488"/>
          </a:xfrm>
          <a:prstGeom prst="rect">
            <a:avLst/>
          </a:prstGeom>
          <a:noFill/>
          <a:ln/>
        </p:spPr>
        <p:txBody>
          <a:bodyPr wrap="none" lIns="0" tIns="0" rIns="0" bIns="0" rtlCol="0" anchor="t"/>
          <a:lstStyle/>
          <a:p>
            <a:pPr marL="0" indent="0" algn="l">
              <a:lnSpc>
                <a:spcPct val="104000"/>
              </a:lnSpc>
              <a:buNone/>
            </a:pPr>
            <a:r>
              <a:rPr lang="en-US" sz="1000" b="1" dirty="0">
                <a:solidFill>
                  <a:srgbClr val="000000"/>
                </a:solidFill>
                <a:latin typeface="Inter Bold" pitchFamily="34" charset="0"/>
                <a:ea typeface="Inter Bold" pitchFamily="34" charset="-122"/>
                <a:cs typeface="Inter Bold" pitchFamily="34" charset="-120"/>
              </a:rPr>
              <a:t>Kết quả đạt được</a:t>
            </a:r>
            <a:endParaRPr lang="en-US" sz="1000" dirty="0"/>
          </a:p>
        </p:txBody>
      </p:sp>
      <p:sp>
        <p:nvSpPr>
          <p:cNvPr id="8" name="Text 6"/>
          <p:cNvSpPr/>
          <p:nvPr/>
        </p:nvSpPr>
        <p:spPr>
          <a:xfrm>
            <a:off x="525438" y="1813768"/>
            <a:ext cx="3889623" cy="919386"/>
          </a:xfrm>
          <a:prstGeom prst="rect">
            <a:avLst/>
          </a:prstGeom>
          <a:noFill/>
          <a:ln/>
        </p:spPr>
        <p:txBody>
          <a:bodyPr wrap="square" lIns="0" tIns="0" rIns="0" bIns="0" rtlCol="0" anchor="t">
            <a:normAutofit/>
          </a:bodyPr>
          <a:lstStyle/>
          <a:p>
            <a:pPr marL="162560" indent="-162560" algn="l">
              <a:lnSpc>
                <a:spcPct val="123000"/>
              </a:lnSpc>
              <a:buSzPct val="100000"/>
              <a:buChar char="•"/>
            </a:pPr>
            <a:r>
              <a:rPr lang="en-US" sz="800" dirty="0">
                <a:solidFill>
                  <a:srgbClr val="000000"/>
                </a:solidFill>
                <a:latin typeface="Inter" pitchFamily="34" charset="0"/>
                <a:ea typeface="Inter" pitchFamily="34" charset="-122"/>
                <a:cs typeface="Inter" pitchFamily="34" charset="-120"/>
              </a:rPr>
              <a:t>✔ Xây dựng RESTful API bằng FastAPI</a:t>
            </a:r>
            <a:endParaRPr lang="en-US" sz="800" dirty="0"/>
          </a:p>
          <a:p>
            <a:pPr marL="162560" indent="-162560" algn="l">
              <a:lnSpc>
                <a:spcPct val="123000"/>
              </a:lnSpc>
              <a:buSzPct val="100000"/>
              <a:buChar char="•"/>
            </a:pPr>
            <a:r>
              <a:rPr lang="en-US" sz="800" dirty="0">
                <a:solidFill>
                  <a:srgbClr val="000000"/>
                </a:solidFill>
                <a:latin typeface="Inter" pitchFamily="34" charset="0"/>
                <a:ea typeface="Inter" pitchFamily="34" charset="-122"/>
                <a:cs typeface="Inter" pitchFamily="34" charset="-120"/>
              </a:rPr>
              <a:t>✔ Áp dụng Pydantic Validation</a:t>
            </a:r>
            <a:endParaRPr lang="en-US" sz="800" dirty="0"/>
          </a:p>
          <a:p>
            <a:pPr marL="162560" indent="-162560" algn="l">
              <a:lnSpc>
                <a:spcPct val="123000"/>
              </a:lnSpc>
              <a:buSzPct val="100000"/>
              <a:buChar char="•"/>
            </a:pPr>
            <a:r>
              <a:rPr lang="en-US" sz="800" dirty="0">
                <a:solidFill>
                  <a:srgbClr val="000000"/>
                </a:solidFill>
                <a:latin typeface="Inter" pitchFamily="34" charset="0"/>
                <a:ea typeface="Inter" pitchFamily="34" charset="-122"/>
                <a:cs typeface="Inter" pitchFamily="34" charset="-120"/>
              </a:rPr>
              <a:t>✔ Chuẩn hóa Response format</a:t>
            </a:r>
            <a:endParaRPr lang="en-US" sz="800" dirty="0"/>
          </a:p>
          <a:p>
            <a:pPr marL="162560" indent="-162560" algn="l">
              <a:lnSpc>
                <a:spcPct val="123000"/>
              </a:lnSpc>
              <a:buSzPct val="100000"/>
              <a:buChar char="•"/>
            </a:pPr>
            <a:r>
              <a:rPr lang="en-US" sz="800" dirty="0">
                <a:solidFill>
                  <a:srgbClr val="000000"/>
                </a:solidFill>
                <a:latin typeface="Inter" pitchFamily="34" charset="0"/>
                <a:ea typeface="Inter" pitchFamily="34" charset="-122"/>
                <a:cs typeface="Inter" pitchFamily="34" charset="-120"/>
              </a:rPr>
              <a:t>✔ Xử lý Exception tập trung</a:t>
            </a:r>
            <a:endParaRPr lang="en-US" sz="800" dirty="0"/>
          </a:p>
          <a:p>
            <a:pPr marL="162560" indent="-162560" algn="l">
              <a:lnSpc>
                <a:spcPct val="123000"/>
              </a:lnSpc>
              <a:buSzPct val="100000"/>
              <a:buChar char="•"/>
            </a:pPr>
            <a:r>
              <a:rPr lang="en-US" sz="800" dirty="0">
                <a:solidFill>
                  <a:srgbClr val="000000"/>
                </a:solidFill>
                <a:latin typeface="Inter" pitchFamily="34" charset="0"/>
                <a:ea typeface="Inter" pitchFamily="34" charset="-122"/>
                <a:cs typeface="Inter" pitchFamily="34" charset="-120"/>
              </a:rPr>
              <a:t>✔ Tích hợp Swagger UI</a:t>
            </a:r>
            <a:endParaRPr lang="en-US" sz="800" dirty="0"/>
          </a:p>
        </p:txBody>
      </p:sp>
      <p:sp>
        <p:nvSpPr>
          <p:cNvPr id="9" name="Text 7"/>
          <p:cNvSpPr/>
          <p:nvPr/>
        </p:nvSpPr>
        <p:spPr>
          <a:xfrm>
            <a:off x="4704383" y="1562026"/>
            <a:ext cx="1765474" cy="163488"/>
          </a:xfrm>
          <a:prstGeom prst="rect">
            <a:avLst/>
          </a:prstGeom>
          <a:noFill/>
          <a:ln/>
        </p:spPr>
        <p:txBody>
          <a:bodyPr wrap="none" lIns="0" tIns="0" rIns="0" bIns="0" rtlCol="0" anchor="t"/>
          <a:lstStyle/>
          <a:p>
            <a:pPr marL="0" indent="0" algn="l">
              <a:lnSpc>
                <a:spcPct val="104000"/>
              </a:lnSpc>
              <a:buNone/>
            </a:pPr>
            <a:r>
              <a:rPr lang="en-US" sz="1000" b="1" dirty="0">
                <a:solidFill>
                  <a:srgbClr val="000000"/>
                </a:solidFill>
                <a:latin typeface="Inter Bold" pitchFamily="34" charset="0"/>
                <a:ea typeface="Inter Bold" pitchFamily="34" charset="-122"/>
                <a:cs typeface="Inter Bold" pitchFamily="34" charset="-120"/>
              </a:rPr>
              <a:t>Hướng phát triển</a:t>
            </a:r>
            <a:endParaRPr lang="en-US" sz="1000" dirty="0"/>
          </a:p>
        </p:txBody>
      </p:sp>
      <p:sp>
        <p:nvSpPr>
          <p:cNvPr id="10" name="Text 8"/>
          <p:cNvSpPr/>
          <p:nvPr/>
        </p:nvSpPr>
        <p:spPr>
          <a:xfrm>
            <a:off x="4704383" y="1813768"/>
            <a:ext cx="3948261" cy="895573"/>
          </a:xfrm>
          <a:prstGeom prst="rect">
            <a:avLst/>
          </a:prstGeom>
          <a:noFill/>
          <a:ln/>
        </p:spPr>
        <p:txBody>
          <a:bodyPr wrap="square" lIns="0" tIns="0" rIns="0" bIns="0" rtlCol="0" anchor="t">
            <a:normAutofit/>
          </a:bodyPr>
          <a:lstStyle/>
          <a:p>
            <a:pPr marL="162560" indent="-162560" algn="l">
              <a:lnSpc>
                <a:spcPct val="123000"/>
              </a:lnSpc>
              <a:buSzPct val="100000"/>
              <a:buChar char="•"/>
            </a:pPr>
            <a:r>
              <a:rPr lang="en-US" sz="800" dirty="0">
                <a:solidFill>
                  <a:srgbClr val="272525"/>
                </a:solidFill>
                <a:latin typeface="Inter" pitchFamily="34" charset="0"/>
                <a:ea typeface="Inter" pitchFamily="34" charset="-122"/>
                <a:cs typeface="Inter" pitchFamily="34" charset="-120"/>
              </a:rPr>
              <a:t>Kết nối MySQL / PostgreSQL</a:t>
            </a:r>
            <a:endParaRPr lang="en-US" sz="800" dirty="0"/>
          </a:p>
          <a:p>
            <a:pPr marL="162560" indent="-162560" algn="l">
              <a:lnSpc>
                <a:spcPct val="123000"/>
              </a:lnSpc>
              <a:buSzPct val="100000"/>
              <a:buChar char="•"/>
            </a:pPr>
            <a:r>
              <a:rPr lang="en-US" sz="800" dirty="0">
                <a:solidFill>
                  <a:srgbClr val="272525"/>
                </a:solidFill>
                <a:latin typeface="Inter" pitchFamily="34" charset="0"/>
                <a:ea typeface="Inter" pitchFamily="34" charset="-122"/>
                <a:cs typeface="Inter" pitchFamily="34" charset="-120"/>
              </a:rPr>
              <a:t>JWT Authentication &amp; phân quyền</a:t>
            </a:r>
            <a:endParaRPr lang="en-US" sz="800" dirty="0"/>
          </a:p>
          <a:p>
            <a:pPr marL="162560" indent="-162560" algn="l">
              <a:lnSpc>
                <a:spcPct val="123000"/>
              </a:lnSpc>
              <a:buSzPct val="100000"/>
              <a:buChar char="•"/>
            </a:pPr>
            <a:r>
              <a:rPr lang="en-US" sz="800" dirty="0">
                <a:solidFill>
                  <a:srgbClr val="272525"/>
                </a:solidFill>
                <a:latin typeface="Inter" pitchFamily="34" charset="0"/>
                <a:ea typeface="Inter" pitchFamily="34" charset="-122"/>
                <a:cs typeface="Inter" pitchFamily="34" charset="-120"/>
              </a:rPr>
              <a:t>Upload file attachment</a:t>
            </a:r>
            <a:endParaRPr lang="en-US" sz="800" dirty="0"/>
          </a:p>
          <a:p>
            <a:pPr marL="162560" indent="-162560" algn="l">
              <a:lnSpc>
                <a:spcPct val="123000"/>
              </a:lnSpc>
              <a:buSzPct val="100000"/>
              <a:buChar char="•"/>
            </a:pPr>
            <a:r>
              <a:rPr lang="en-US" sz="800" dirty="0">
                <a:solidFill>
                  <a:srgbClr val="272525"/>
                </a:solidFill>
                <a:latin typeface="Inter" pitchFamily="34" charset="0"/>
                <a:ea typeface="Inter" pitchFamily="34" charset="-122"/>
                <a:cs typeface="Inter" pitchFamily="34" charset="-120"/>
              </a:rPr>
              <a:t>Pagination &amp; sorting</a:t>
            </a:r>
            <a:endParaRPr lang="en-US" sz="800" dirty="0"/>
          </a:p>
          <a:p>
            <a:pPr marL="162560" indent="-162560" algn="l">
              <a:lnSpc>
                <a:spcPct val="123000"/>
              </a:lnSpc>
              <a:buSzPct val="100000"/>
              <a:buChar char="•"/>
            </a:pPr>
            <a:r>
              <a:rPr lang="en-US" sz="800" dirty="0">
                <a:solidFill>
                  <a:srgbClr val="272525"/>
                </a:solidFill>
                <a:latin typeface="Inter" pitchFamily="34" charset="0"/>
                <a:ea typeface="Inter" pitchFamily="34" charset="-122"/>
                <a:cs typeface="Inter" pitchFamily="34" charset="-120"/>
              </a:rPr>
              <a:t>Docker Deployment</a:t>
            </a:r>
            <a:endParaRPr lang="en-US" sz="800" dirty="0"/>
          </a:p>
        </p:txBody>
      </p:sp>
      <p:sp>
        <p:nvSpPr>
          <p:cNvPr id="11" name="Shape 9"/>
          <p:cNvSpPr/>
          <p:nvPr/>
        </p:nvSpPr>
        <p:spPr>
          <a:xfrm>
            <a:off x="496119" y="2889498"/>
            <a:ext cx="8151763" cy="14288"/>
          </a:xfrm>
          <a:prstGeom prst="roundRect">
            <a:avLst>
              <a:gd name="adj" fmla="val 59998"/>
            </a:avLst>
          </a:prstGeom>
          <a:solidFill>
            <a:srgbClr val="272525">
              <a:alpha val="50000"/>
            </a:srgbClr>
          </a:solidFill>
          <a:ln/>
        </p:spPr>
        <p:txBody>
          <a:bodyPr/>
          <a:lstStyle/>
          <a:p>
            <a:endParaRPr lang="vi-VN"/>
          </a:p>
        </p:txBody>
      </p:sp>
      <p:sp>
        <p:nvSpPr>
          <p:cNvPr id="12" name="Text 10"/>
          <p:cNvSpPr/>
          <p:nvPr/>
        </p:nvSpPr>
        <p:spPr>
          <a:xfrm>
            <a:off x="496119" y="3029248"/>
            <a:ext cx="209327" cy="130820"/>
          </a:xfrm>
          <a:prstGeom prst="rect">
            <a:avLst/>
          </a:prstGeom>
          <a:noFill/>
          <a:ln/>
        </p:spPr>
        <p:txBody>
          <a:bodyPr wrap="none" lIns="0" tIns="0" rIns="0" bIns="0" rtlCol="0" anchor="ctr"/>
          <a:lstStyle/>
          <a:p>
            <a:pPr marL="0" indent="0" algn="l">
              <a:lnSpc>
                <a:spcPct val="100000"/>
              </a:lnSpc>
              <a:buNone/>
            </a:pPr>
            <a:r>
              <a:rPr lang="en-US" sz="800" dirty="0">
                <a:solidFill>
                  <a:srgbClr val="272525"/>
                </a:solidFill>
                <a:latin typeface="Inter Light" pitchFamily="34" charset="0"/>
                <a:ea typeface="Inter Light" pitchFamily="34" charset="-122"/>
                <a:cs typeface="Inter Light" pitchFamily="34" charset="-120"/>
              </a:rPr>
              <a:t>01</a:t>
            </a:r>
            <a:endParaRPr lang="en-US" sz="800" dirty="0"/>
          </a:p>
        </p:txBody>
      </p:sp>
      <p:sp>
        <p:nvSpPr>
          <p:cNvPr id="13" name="Shape 11"/>
          <p:cNvSpPr/>
          <p:nvPr/>
        </p:nvSpPr>
        <p:spPr>
          <a:xfrm>
            <a:off x="496119" y="3192810"/>
            <a:ext cx="4031754" cy="14288"/>
          </a:xfrm>
          <a:prstGeom prst="rect">
            <a:avLst/>
          </a:prstGeom>
          <a:solidFill>
            <a:srgbClr val="4950BC"/>
          </a:solidFill>
          <a:ln/>
        </p:spPr>
        <p:txBody>
          <a:bodyPr/>
          <a:lstStyle/>
          <a:p>
            <a:endParaRPr lang="vi-VN"/>
          </a:p>
        </p:txBody>
      </p:sp>
      <p:sp>
        <p:nvSpPr>
          <p:cNvPr id="14" name="Text 12"/>
          <p:cNvSpPr/>
          <p:nvPr/>
        </p:nvSpPr>
        <p:spPr>
          <a:xfrm>
            <a:off x="496119" y="3273698"/>
            <a:ext cx="1308274" cy="163488"/>
          </a:xfrm>
          <a:prstGeom prst="rect">
            <a:avLst/>
          </a:prstGeom>
          <a:noFill/>
          <a:ln/>
        </p:spPr>
        <p:txBody>
          <a:bodyPr wrap="none" lIns="0" tIns="0" rIns="0" bIns="0" rtlCol="0" anchor="t"/>
          <a:lstStyle/>
          <a:p>
            <a:pPr marL="0" indent="0" algn="l">
              <a:lnSpc>
                <a:spcPct val="104000"/>
              </a:lnSpc>
              <a:buNone/>
            </a:pPr>
            <a:r>
              <a:rPr lang="en-US" sz="1000" b="1" dirty="0">
                <a:solidFill>
                  <a:srgbClr val="272525"/>
                </a:solidFill>
                <a:latin typeface="Inter Bold" pitchFamily="34" charset="0"/>
                <a:ea typeface="Inter Bold" pitchFamily="34" charset="-122"/>
                <a:cs typeface="Inter Bold" pitchFamily="34" charset="-120"/>
              </a:rPr>
              <a:t>Tạo Task</a:t>
            </a:r>
            <a:endParaRPr lang="en-US" sz="1000" dirty="0"/>
          </a:p>
        </p:txBody>
      </p:sp>
      <p:sp>
        <p:nvSpPr>
          <p:cNvPr id="15" name="Text 13"/>
          <p:cNvSpPr/>
          <p:nvPr/>
        </p:nvSpPr>
        <p:spPr>
          <a:xfrm>
            <a:off x="496119" y="3490168"/>
            <a:ext cx="4031754" cy="154409"/>
          </a:xfrm>
          <a:prstGeom prst="rect">
            <a:avLst/>
          </a:prstGeom>
          <a:noFill/>
          <a:ln/>
        </p:spPr>
        <p:txBody>
          <a:bodyPr wrap="none" lIns="0" tIns="0" rIns="0" bIns="0" rtlCol="0" anchor="t"/>
          <a:lstStyle/>
          <a:p>
            <a:pPr marL="0" indent="0" algn="l">
              <a:lnSpc>
                <a:spcPct val="123000"/>
              </a:lnSpc>
              <a:buNone/>
            </a:pPr>
            <a:r>
              <a:rPr lang="en-US" sz="800" dirty="0">
                <a:solidFill>
                  <a:srgbClr val="272525"/>
                </a:solidFill>
                <a:latin typeface="Inter" pitchFamily="34" charset="0"/>
                <a:ea typeface="Inter" pitchFamily="34" charset="-122"/>
                <a:cs typeface="Inter" pitchFamily="34" charset="-120"/>
              </a:rPr>
              <a:t>POST /tasks</a:t>
            </a:r>
            <a:endParaRPr lang="en-US" sz="800" dirty="0"/>
          </a:p>
        </p:txBody>
      </p:sp>
      <p:sp>
        <p:nvSpPr>
          <p:cNvPr id="16" name="Text 14"/>
          <p:cNvSpPr/>
          <p:nvPr/>
        </p:nvSpPr>
        <p:spPr>
          <a:xfrm>
            <a:off x="4616128" y="3029248"/>
            <a:ext cx="209327" cy="130820"/>
          </a:xfrm>
          <a:prstGeom prst="rect">
            <a:avLst/>
          </a:prstGeom>
          <a:noFill/>
          <a:ln/>
        </p:spPr>
        <p:txBody>
          <a:bodyPr wrap="none" lIns="0" tIns="0" rIns="0" bIns="0" rtlCol="0" anchor="ctr"/>
          <a:lstStyle/>
          <a:p>
            <a:pPr marL="0" indent="0" algn="l">
              <a:lnSpc>
                <a:spcPct val="100000"/>
              </a:lnSpc>
              <a:buNone/>
            </a:pPr>
            <a:r>
              <a:rPr lang="en-US" sz="800" dirty="0">
                <a:solidFill>
                  <a:srgbClr val="272525"/>
                </a:solidFill>
                <a:latin typeface="Inter Light" pitchFamily="34" charset="0"/>
                <a:ea typeface="Inter Light" pitchFamily="34" charset="-122"/>
                <a:cs typeface="Inter Light" pitchFamily="34" charset="-120"/>
              </a:rPr>
              <a:t>02</a:t>
            </a:r>
            <a:endParaRPr lang="en-US" sz="800" dirty="0"/>
          </a:p>
        </p:txBody>
      </p:sp>
      <p:sp>
        <p:nvSpPr>
          <p:cNvPr id="17" name="Shape 15"/>
          <p:cNvSpPr/>
          <p:nvPr/>
        </p:nvSpPr>
        <p:spPr>
          <a:xfrm>
            <a:off x="4616128" y="3192810"/>
            <a:ext cx="4031754" cy="14288"/>
          </a:xfrm>
          <a:prstGeom prst="rect">
            <a:avLst/>
          </a:prstGeom>
          <a:solidFill>
            <a:srgbClr val="4950BC"/>
          </a:solidFill>
          <a:ln/>
        </p:spPr>
        <p:txBody>
          <a:bodyPr/>
          <a:lstStyle/>
          <a:p>
            <a:endParaRPr lang="vi-VN"/>
          </a:p>
        </p:txBody>
      </p:sp>
      <p:sp>
        <p:nvSpPr>
          <p:cNvPr id="18" name="Text 16"/>
          <p:cNvSpPr/>
          <p:nvPr/>
        </p:nvSpPr>
        <p:spPr>
          <a:xfrm>
            <a:off x="4616128" y="3273698"/>
            <a:ext cx="1308274" cy="163488"/>
          </a:xfrm>
          <a:prstGeom prst="rect">
            <a:avLst/>
          </a:prstGeom>
          <a:noFill/>
          <a:ln/>
        </p:spPr>
        <p:txBody>
          <a:bodyPr wrap="none" lIns="0" tIns="0" rIns="0" bIns="0" rtlCol="0" anchor="t"/>
          <a:lstStyle/>
          <a:p>
            <a:pPr marL="0" indent="0" algn="l">
              <a:lnSpc>
                <a:spcPct val="104000"/>
              </a:lnSpc>
              <a:buNone/>
            </a:pPr>
            <a:r>
              <a:rPr lang="en-US" sz="1000" b="1" dirty="0">
                <a:solidFill>
                  <a:srgbClr val="272525"/>
                </a:solidFill>
                <a:latin typeface="Inter Bold" pitchFamily="34" charset="0"/>
                <a:ea typeface="Inter Bold" pitchFamily="34" charset="-122"/>
                <a:cs typeface="Inter Bold" pitchFamily="34" charset="-120"/>
              </a:rPr>
              <a:t>Xem &amp; Cập nhật</a:t>
            </a:r>
            <a:endParaRPr lang="en-US" sz="1000" dirty="0"/>
          </a:p>
        </p:txBody>
      </p:sp>
      <p:sp>
        <p:nvSpPr>
          <p:cNvPr id="19" name="Text 17"/>
          <p:cNvSpPr/>
          <p:nvPr/>
        </p:nvSpPr>
        <p:spPr>
          <a:xfrm>
            <a:off x="4616128" y="3490168"/>
            <a:ext cx="4031754" cy="154409"/>
          </a:xfrm>
          <a:prstGeom prst="rect">
            <a:avLst/>
          </a:prstGeom>
          <a:noFill/>
          <a:ln/>
        </p:spPr>
        <p:txBody>
          <a:bodyPr wrap="none" lIns="0" tIns="0" rIns="0" bIns="0" rtlCol="0" anchor="t"/>
          <a:lstStyle/>
          <a:p>
            <a:pPr marL="0" indent="0" algn="l">
              <a:lnSpc>
                <a:spcPct val="123000"/>
              </a:lnSpc>
              <a:buNone/>
            </a:pPr>
            <a:r>
              <a:rPr lang="en-US" sz="800" dirty="0">
                <a:solidFill>
                  <a:srgbClr val="272525"/>
                </a:solidFill>
                <a:latin typeface="Inter" pitchFamily="34" charset="0"/>
                <a:ea typeface="Inter" pitchFamily="34" charset="-122"/>
                <a:cs typeface="Inter" pitchFamily="34" charset="-120"/>
              </a:rPr>
              <a:t>GET / PUT /tasks/{id}</a:t>
            </a:r>
            <a:endParaRPr lang="en-US" sz="800" dirty="0"/>
          </a:p>
        </p:txBody>
      </p:sp>
      <p:sp>
        <p:nvSpPr>
          <p:cNvPr id="20" name="Text 18"/>
          <p:cNvSpPr/>
          <p:nvPr/>
        </p:nvSpPr>
        <p:spPr>
          <a:xfrm>
            <a:off x="496119" y="3811265"/>
            <a:ext cx="209327" cy="130820"/>
          </a:xfrm>
          <a:prstGeom prst="rect">
            <a:avLst/>
          </a:prstGeom>
          <a:noFill/>
          <a:ln/>
        </p:spPr>
        <p:txBody>
          <a:bodyPr wrap="none" lIns="0" tIns="0" rIns="0" bIns="0" rtlCol="0" anchor="ctr"/>
          <a:lstStyle/>
          <a:p>
            <a:pPr marL="0" indent="0" algn="l">
              <a:lnSpc>
                <a:spcPct val="100000"/>
              </a:lnSpc>
              <a:buNone/>
            </a:pPr>
            <a:r>
              <a:rPr lang="en-US" sz="800" dirty="0">
                <a:solidFill>
                  <a:srgbClr val="272525"/>
                </a:solidFill>
                <a:latin typeface="Inter Light" pitchFamily="34" charset="0"/>
                <a:ea typeface="Inter Light" pitchFamily="34" charset="-122"/>
                <a:cs typeface="Inter Light" pitchFamily="34" charset="-120"/>
              </a:rPr>
              <a:t>03</a:t>
            </a:r>
            <a:endParaRPr lang="en-US" sz="800" dirty="0"/>
          </a:p>
        </p:txBody>
      </p:sp>
      <p:sp>
        <p:nvSpPr>
          <p:cNvPr id="21" name="Shape 19"/>
          <p:cNvSpPr/>
          <p:nvPr/>
        </p:nvSpPr>
        <p:spPr>
          <a:xfrm>
            <a:off x="496119" y="3974827"/>
            <a:ext cx="4031754" cy="14288"/>
          </a:xfrm>
          <a:prstGeom prst="rect">
            <a:avLst/>
          </a:prstGeom>
          <a:solidFill>
            <a:srgbClr val="4950BC"/>
          </a:solidFill>
          <a:ln/>
        </p:spPr>
        <p:txBody>
          <a:bodyPr/>
          <a:lstStyle/>
          <a:p>
            <a:endParaRPr lang="vi-VN"/>
          </a:p>
        </p:txBody>
      </p:sp>
      <p:sp>
        <p:nvSpPr>
          <p:cNvPr id="22" name="Text 20"/>
          <p:cNvSpPr/>
          <p:nvPr/>
        </p:nvSpPr>
        <p:spPr>
          <a:xfrm>
            <a:off x="496119" y="4055715"/>
            <a:ext cx="1308274" cy="163488"/>
          </a:xfrm>
          <a:prstGeom prst="rect">
            <a:avLst/>
          </a:prstGeom>
          <a:noFill/>
          <a:ln/>
        </p:spPr>
        <p:txBody>
          <a:bodyPr wrap="none" lIns="0" tIns="0" rIns="0" bIns="0" rtlCol="0" anchor="t"/>
          <a:lstStyle/>
          <a:p>
            <a:pPr marL="0" indent="0" algn="l">
              <a:lnSpc>
                <a:spcPct val="104000"/>
              </a:lnSpc>
              <a:buNone/>
            </a:pPr>
            <a:r>
              <a:rPr lang="en-US" sz="1000" b="1" dirty="0">
                <a:solidFill>
                  <a:srgbClr val="272525"/>
                </a:solidFill>
                <a:latin typeface="Inter Bold" pitchFamily="34" charset="0"/>
                <a:ea typeface="Inter Bold" pitchFamily="34" charset="-122"/>
                <a:cs typeface="Inter Bold" pitchFamily="34" charset="-120"/>
              </a:rPr>
              <a:t>Tìm kiếm</a:t>
            </a:r>
            <a:endParaRPr lang="en-US" sz="1000" dirty="0"/>
          </a:p>
        </p:txBody>
      </p:sp>
      <p:sp>
        <p:nvSpPr>
          <p:cNvPr id="23" name="Text 21"/>
          <p:cNvSpPr/>
          <p:nvPr/>
        </p:nvSpPr>
        <p:spPr>
          <a:xfrm>
            <a:off x="496119" y="4272186"/>
            <a:ext cx="4031754" cy="154409"/>
          </a:xfrm>
          <a:prstGeom prst="rect">
            <a:avLst/>
          </a:prstGeom>
          <a:noFill/>
          <a:ln/>
        </p:spPr>
        <p:txBody>
          <a:bodyPr wrap="none" lIns="0" tIns="0" rIns="0" bIns="0" rtlCol="0" anchor="t"/>
          <a:lstStyle/>
          <a:p>
            <a:pPr marL="0" indent="0" algn="l">
              <a:lnSpc>
                <a:spcPct val="123000"/>
              </a:lnSpc>
              <a:buNone/>
            </a:pPr>
            <a:r>
              <a:rPr lang="en-US" sz="800" dirty="0">
                <a:solidFill>
                  <a:srgbClr val="272525"/>
                </a:solidFill>
                <a:latin typeface="Inter" pitchFamily="34" charset="0"/>
                <a:ea typeface="Inter" pitchFamily="34" charset="-122"/>
                <a:cs typeface="Inter" pitchFamily="34" charset="-120"/>
              </a:rPr>
              <a:t>GET /tasks/search</a:t>
            </a:r>
            <a:endParaRPr lang="en-US" sz="800" dirty="0"/>
          </a:p>
        </p:txBody>
      </p:sp>
      <p:sp>
        <p:nvSpPr>
          <p:cNvPr id="24" name="Text 22"/>
          <p:cNvSpPr/>
          <p:nvPr/>
        </p:nvSpPr>
        <p:spPr>
          <a:xfrm>
            <a:off x="4616128" y="3811265"/>
            <a:ext cx="209327" cy="130820"/>
          </a:xfrm>
          <a:prstGeom prst="rect">
            <a:avLst/>
          </a:prstGeom>
          <a:noFill/>
          <a:ln/>
        </p:spPr>
        <p:txBody>
          <a:bodyPr wrap="none" lIns="0" tIns="0" rIns="0" bIns="0" rtlCol="0" anchor="ctr"/>
          <a:lstStyle/>
          <a:p>
            <a:pPr marL="0" indent="0" algn="l">
              <a:lnSpc>
                <a:spcPct val="100000"/>
              </a:lnSpc>
              <a:buNone/>
            </a:pPr>
            <a:r>
              <a:rPr lang="en-US" sz="800" dirty="0">
                <a:solidFill>
                  <a:srgbClr val="272525"/>
                </a:solidFill>
                <a:latin typeface="Inter Light" pitchFamily="34" charset="0"/>
                <a:ea typeface="Inter Light" pitchFamily="34" charset="-122"/>
                <a:cs typeface="Inter Light" pitchFamily="34" charset="-120"/>
              </a:rPr>
              <a:t>04</a:t>
            </a:r>
            <a:endParaRPr lang="en-US" sz="800" dirty="0"/>
          </a:p>
        </p:txBody>
      </p:sp>
      <p:sp>
        <p:nvSpPr>
          <p:cNvPr id="25" name="Shape 23"/>
          <p:cNvSpPr/>
          <p:nvPr/>
        </p:nvSpPr>
        <p:spPr>
          <a:xfrm>
            <a:off x="4616128" y="3974827"/>
            <a:ext cx="4031754" cy="14288"/>
          </a:xfrm>
          <a:prstGeom prst="rect">
            <a:avLst/>
          </a:prstGeom>
          <a:solidFill>
            <a:srgbClr val="4950BC"/>
          </a:solidFill>
          <a:ln/>
        </p:spPr>
        <p:txBody>
          <a:bodyPr/>
          <a:lstStyle/>
          <a:p>
            <a:endParaRPr lang="vi-VN"/>
          </a:p>
        </p:txBody>
      </p:sp>
      <p:sp>
        <p:nvSpPr>
          <p:cNvPr id="26" name="Text 24"/>
          <p:cNvSpPr/>
          <p:nvPr/>
        </p:nvSpPr>
        <p:spPr>
          <a:xfrm>
            <a:off x="4616128" y="4055715"/>
            <a:ext cx="1308274" cy="163488"/>
          </a:xfrm>
          <a:prstGeom prst="rect">
            <a:avLst/>
          </a:prstGeom>
          <a:noFill/>
          <a:ln/>
        </p:spPr>
        <p:txBody>
          <a:bodyPr wrap="none" lIns="0" tIns="0" rIns="0" bIns="0" rtlCol="0" anchor="t"/>
          <a:lstStyle/>
          <a:p>
            <a:pPr marL="0" indent="0" algn="l">
              <a:lnSpc>
                <a:spcPct val="104000"/>
              </a:lnSpc>
              <a:buNone/>
            </a:pPr>
            <a:r>
              <a:rPr lang="en-US" sz="1000" b="1" dirty="0">
                <a:solidFill>
                  <a:srgbClr val="272525"/>
                </a:solidFill>
                <a:latin typeface="Inter Bold" pitchFamily="34" charset="0"/>
                <a:ea typeface="Inter Bold" pitchFamily="34" charset="-122"/>
                <a:cs typeface="Inter Bold" pitchFamily="34" charset="-120"/>
              </a:rPr>
              <a:t>Xóa &amp; Kiểm tra</a:t>
            </a:r>
            <a:endParaRPr lang="en-US" sz="1000" dirty="0"/>
          </a:p>
        </p:txBody>
      </p:sp>
      <p:sp>
        <p:nvSpPr>
          <p:cNvPr id="27" name="Text 25"/>
          <p:cNvSpPr/>
          <p:nvPr/>
        </p:nvSpPr>
        <p:spPr>
          <a:xfrm>
            <a:off x="4616128" y="4272186"/>
            <a:ext cx="4031754" cy="154409"/>
          </a:xfrm>
          <a:prstGeom prst="rect">
            <a:avLst/>
          </a:prstGeom>
          <a:noFill/>
          <a:ln/>
        </p:spPr>
        <p:txBody>
          <a:bodyPr wrap="none" lIns="0" tIns="0" rIns="0" bIns="0" rtlCol="0" anchor="t"/>
          <a:lstStyle/>
          <a:p>
            <a:pPr marL="0" indent="0" algn="l">
              <a:lnSpc>
                <a:spcPct val="123000"/>
              </a:lnSpc>
              <a:buNone/>
            </a:pPr>
            <a:r>
              <a:rPr lang="en-US" sz="800" dirty="0">
                <a:solidFill>
                  <a:srgbClr val="272525"/>
                </a:solidFill>
                <a:latin typeface="Inter" pitchFamily="34" charset="0"/>
                <a:ea typeface="Inter" pitchFamily="34" charset="-122"/>
                <a:cs typeface="Inter" pitchFamily="34" charset="-120"/>
              </a:rPr>
              <a:t>DELETE /tasks/{id}</a:t>
            </a:r>
            <a:endParaRPr lang="en-US" sz="800" dirty="0"/>
          </a:p>
        </p:txBody>
      </p:sp>
      <p:sp>
        <p:nvSpPr>
          <p:cNvPr id="28" name="Text 26"/>
          <p:cNvSpPr/>
          <p:nvPr/>
        </p:nvSpPr>
        <p:spPr>
          <a:xfrm>
            <a:off x="496119" y="4604370"/>
            <a:ext cx="8608963" cy="154409"/>
          </a:xfrm>
          <a:prstGeom prst="rect">
            <a:avLst/>
          </a:prstGeom>
          <a:noFill/>
          <a:ln/>
        </p:spPr>
        <p:txBody>
          <a:bodyPr wrap="none" lIns="0" tIns="0" rIns="0" bIns="0" rtlCol="0" anchor="t"/>
          <a:lstStyle/>
          <a:p>
            <a:pPr marL="0" indent="0" algn="l">
              <a:lnSpc>
                <a:spcPct val="123000"/>
              </a:lnSpc>
              <a:buNone/>
            </a:pP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1743</Words>
  <Application>Microsoft Office PowerPoint</Application>
  <PresentationFormat>On-screen Show (16:9)</PresentationFormat>
  <Paragraphs>184</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Consolas</vt:lpstr>
      <vt:lpstr>Arial</vt:lpstr>
      <vt:lpstr>Inter</vt:lpstr>
      <vt:lpstr>Inter Light</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Pham Hong Phong D25CN07</cp:lastModifiedBy>
  <cp:revision>2</cp:revision>
  <dcterms:created xsi:type="dcterms:W3CDTF">2026-07-06T15:09:06Z</dcterms:created>
  <dcterms:modified xsi:type="dcterms:W3CDTF">2026-07-07T06:10:12Z</dcterms:modified>
</cp:coreProperties>
</file>